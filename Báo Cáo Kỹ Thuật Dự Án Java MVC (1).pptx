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Inter SemiBold"/>
      <p:regular r:id="rId22"/>
      <p:bold r:id="rId23"/>
      <p:italic r:id="rId24"/>
      <p:boldItalic r:id="rId25"/>
    </p:embeddedFont>
    <p:embeddedFont>
      <p:font typeface="Inter"/>
      <p:regular r:id="rId26"/>
      <p:bold r:id="rId27"/>
      <p:italic r:id="rId28"/>
      <p:boldItalic r:id="rId29"/>
    </p:embeddedFont>
    <p:embeddedFont>
      <p:font typeface="JetBrains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CC0C25-6EDD-413E-B913-158B84B5DA8C}">
  <a:tblStyle styleId="{E2CC0C25-6EDD-413E-B913-158B84B5DA8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terSemiBold-regular.fntdata"/><Relationship Id="rId21" Type="http://schemas.openxmlformats.org/officeDocument/2006/relationships/slide" Target="slides/slide15.xml"/><Relationship Id="rId24" Type="http://schemas.openxmlformats.org/officeDocument/2006/relationships/font" Target="fonts/InterSemiBold-italic.fntdata"/><Relationship Id="rId23" Type="http://schemas.openxmlformats.org/officeDocument/2006/relationships/font" Target="fonts/Inter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regular.fntdata"/><Relationship Id="rId25" Type="http://schemas.openxmlformats.org/officeDocument/2006/relationships/font" Target="fonts/InterSemiBold-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JetBrainsMono-bold.fntdata"/><Relationship Id="rId30" Type="http://schemas.openxmlformats.org/officeDocument/2006/relationships/font" Target="fonts/JetBrainsMono-regular.fntdata"/><Relationship Id="rId11" Type="http://schemas.openxmlformats.org/officeDocument/2006/relationships/slide" Target="slides/slide5.xml"/><Relationship Id="rId33" Type="http://schemas.openxmlformats.org/officeDocument/2006/relationships/font" Target="fonts/JetBrainsMono-boldItalic.fntdata"/><Relationship Id="rId10" Type="http://schemas.openxmlformats.org/officeDocument/2006/relationships/slide" Target="slides/slide4.xml"/><Relationship Id="rId32" Type="http://schemas.openxmlformats.org/officeDocument/2006/relationships/font" Target="fonts/JetBrainsMono-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2.png"/><Relationship Id="rId8" Type="http://schemas.openxmlformats.org/officeDocument/2006/relationships/image" Target="../media/image2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305276" y="2114550"/>
            <a:ext cx="11581500" cy="831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F8FAFC"/>
                </a:solidFill>
                <a:latin typeface="Inter"/>
                <a:ea typeface="Inter"/>
                <a:cs typeface="Inter"/>
                <a:sym typeface="Inter"/>
              </a:rPr>
              <a:t>Dự án quản </a:t>
            </a:r>
            <a:r>
              <a:rPr b="1" lang="en-US" sz="5400">
                <a:solidFill>
                  <a:srgbClr val="F8FAFC"/>
                </a:solidFill>
                <a:latin typeface="Inter"/>
                <a:ea typeface="Inter"/>
                <a:cs typeface="Inter"/>
                <a:sym typeface="Inter"/>
              </a:rPr>
              <a:t>lý</a:t>
            </a:r>
            <a:r>
              <a:rPr b="1" lang="en-US" sz="5400">
                <a:solidFill>
                  <a:srgbClr val="F8FAFC"/>
                </a:solidFill>
                <a:latin typeface="Inter"/>
                <a:ea typeface="Inter"/>
                <a:cs typeface="Inter"/>
                <a:sym typeface="Inter"/>
              </a:rPr>
              <a:t> môn học </a:t>
            </a:r>
            <a:endParaRPr/>
          </a:p>
        </p:txBody>
      </p:sp>
      <p:sp>
        <p:nvSpPr>
          <p:cNvPr id="86" name="Google Shape;86;p13"/>
          <p:cNvSpPr txBox="1"/>
          <p:nvPr/>
        </p:nvSpPr>
        <p:spPr>
          <a:xfrm>
            <a:off x="581025" y="3171825"/>
            <a:ext cx="11030100" cy="2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94A3B8"/>
                </a:solidFill>
                <a:latin typeface="Inter"/>
                <a:ea typeface="Inter"/>
                <a:cs typeface="Inter"/>
                <a:sym typeface="Inter"/>
              </a:rPr>
              <a:t>Báo Cáo Kiến Trúc Hệ Thống Quản Lý </a:t>
            </a:r>
            <a:r>
              <a:rPr lang="en-US" sz="1800">
                <a:solidFill>
                  <a:srgbClr val="94A3B8"/>
                </a:solidFill>
                <a:latin typeface="Inter"/>
                <a:ea typeface="Inter"/>
                <a:cs typeface="Inter"/>
                <a:sym typeface="Inter"/>
              </a:rPr>
              <a:t>Môn Học</a:t>
            </a:r>
            <a:r>
              <a:rPr b="0" i="0" lang="en-US" sz="1800" u="none" cap="none" strike="noStrike">
                <a:solidFill>
                  <a:srgbClr val="94A3B8"/>
                </a:solidFill>
                <a:latin typeface="Inter"/>
                <a:ea typeface="Inter"/>
                <a:cs typeface="Inter"/>
                <a:sym typeface="Inter"/>
              </a:rPr>
              <a:t> Java MVC</a:t>
            </a:r>
            <a:endParaRPr/>
          </a:p>
        </p:txBody>
      </p:sp>
      <p:sp>
        <p:nvSpPr>
          <p:cNvPr id="87" name="Google Shape;87;p13"/>
          <p:cNvSpPr/>
          <p:nvPr/>
        </p:nvSpPr>
        <p:spPr>
          <a:xfrm>
            <a:off x="5619750" y="3895725"/>
            <a:ext cx="9525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581025" y="4314825"/>
            <a:ext cx="11029950"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10B981"/>
                </a:solidFill>
                <a:latin typeface="JetBrains Mono"/>
                <a:ea typeface="JetBrains Mono"/>
                <a:cs typeface="JetBrains Mono"/>
                <a:sym typeface="JetBrains Mono"/>
              </a:rPr>
              <a:t>v1.0.0 | Documentation for Developers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14"/>
          <p:cNvSpPr txBox="1"/>
          <p:nvPr/>
        </p:nvSpPr>
        <p:spPr>
          <a:xfrm>
            <a:off x="581025" y="2776537"/>
            <a:ext cx="5324400" cy="519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94A3B8"/>
                </a:solidFill>
                <a:latin typeface="Inter"/>
                <a:ea typeface="Inter"/>
                <a:cs typeface="Inter"/>
                <a:sym typeface="Inter"/>
              </a:rPr>
              <a:t>Hệ thống được xây dựng trên mô hình </a:t>
            </a:r>
            <a:r>
              <a:rPr b="1" i="0" lang="en-US" sz="1350" u="none" cap="none" strike="noStrike">
                <a:solidFill>
                  <a:srgbClr val="F1F5F9"/>
                </a:solidFill>
                <a:latin typeface="Inter"/>
                <a:ea typeface="Inter"/>
                <a:cs typeface="Inter"/>
                <a:sym typeface="Inter"/>
              </a:rPr>
              <a:t>MVC mở rộng</a:t>
            </a:r>
            <a:r>
              <a:rPr b="0" i="0" lang="en-US" sz="1350" u="none" cap="none" strike="noStrike">
                <a:solidFill>
                  <a:srgbClr val="94A3B8"/>
                </a:solidFill>
                <a:latin typeface="Inter"/>
                <a:ea typeface="Inter"/>
                <a:cs typeface="Inter"/>
                <a:sym typeface="Inter"/>
              </a:rPr>
              <a:t>, tách biệt hoàn toàn giữa dữ liệu vật lý và logic xử lý:</a:t>
            </a:r>
            <a:endParaRPr/>
          </a:p>
        </p:txBody>
      </p:sp>
      <p:sp>
        <p:nvSpPr>
          <p:cNvPr id="95" name="Google Shape;95;p14"/>
          <p:cNvSpPr txBox="1"/>
          <p:nvPr/>
        </p:nvSpPr>
        <p:spPr>
          <a:xfrm>
            <a:off x="581025" y="3462338"/>
            <a:ext cx="5324400" cy="207900"/>
          </a:xfrm>
          <a:prstGeom prst="rect">
            <a:avLst/>
          </a:prstGeom>
          <a:solidFill>
            <a:srgbClr val="000000">
              <a:alpha val="0"/>
            </a:srgbClr>
          </a:solidFill>
          <a:ln>
            <a:noFill/>
          </a:ln>
        </p:spPr>
        <p:txBody>
          <a:bodyPr anchorCtr="0" anchor="t" bIns="0" lIns="285750" spcFirstLastPara="1" rIns="0" wrap="square" tIns="0">
            <a:spAutoFit/>
          </a:bodyPr>
          <a:lstStyle/>
          <a:p>
            <a:pPr indent="0" lvl="0" marL="0" rtl="0" algn="l">
              <a:spcBef>
                <a:spcPts val="0"/>
              </a:spcBef>
              <a:spcAft>
                <a:spcPts val="0"/>
              </a:spcAft>
              <a:buNone/>
            </a:pPr>
            <a:r>
              <a:rPr b="1" lang="en-US" sz="1350">
                <a:solidFill>
                  <a:srgbClr val="F1F5F9"/>
                </a:solidFill>
                <a:latin typeface="Inter"/>
                <a:ea typeface="Inter"/>
                <a:cs typeface="Inter"/>
                <a:sym typeface="Inter"/>
              </a:rPr>
              <a:t>Tầng Hiển thị:</a:t>
            </a:r>
            <a:r>
              <a:rPr b="0" lang="en-US" sz="1350">
                <a:solidFill>
                  <a:srgbClr val="94A3B8"/>
                </a:solidFill>
                <a:latin typeface="Inter"/>
                <a:ea typeface="Inter"/>
                <a:cs typeface="Inter"/>
                <a:sym typeface="Inter"/>
              </a:rPr>
              <a:t> View &amp; Controller.</a:t>
            </a:r>
            <a:endParaRPr b="1" sz="1350">
              <a:solidFill>
                <a:srgbClr val="F1F5F9"/>
              </a:solidFill>
              <a:latin typeface="Inter"/>
              <a:ea typeface="Inter"/>
              <a:cs typeface="Inter"/>
              <a:sym typeface="Inter"/>
            </a:endParaRPr>
          </a:p>
        </p:txBody>
      </p:sp>
      <p:sp>
        <p:nvSpPr>
          <p:cNvPr id="96" name="Google Shape;96;p14"/>
          <p:cNvSpPr txBox="1"/>
          <p:nvPr/>
        </p:nvSpPr>
        <p:spPr>
          <a:xfrm>
            <a:off x="581025" y="3862388"/>
            <a:ext cx="5324400" cy="207900"/>
          </a:xfrm>
          <a:prstGeom prst="rect">
            <a:avLst/>
          </a:prstGeom>
          <a:solidFill>
            <a:srgbClr val="000000">
              <a:alpha val="0"/>
            </a:srgbClr>
          </a:solidFill>
          <a:ln>
            <a:noFill/>
          </a:ln>
        </p:spPr>
        <p:txBody>
          <a:bodyPr anchorCtr="0" anchor="t" bIns="0" lIns="266700" spcFirstLastPara="1" rIns="0" wrap="square" tIns="0">
            <a:spAutoFit/>
          </a:bodyPr>
          <a:lstStyle/>
          <a:p>
            <a:pPr indent="0" lvl="0" marL="0" rtl="0" algn="l">
              <a:spcBef>
                <a:spcPts val="0"/>
              </a:spcBef>
              <a:spcAft>
                <a:spcPts val="0"/>
              </a:spcAft>
              <a:buNone/>
            </a:pPr>
            <a:r>
              <a:rPr b="1" lang="en-US" sz="1350">
                <a:solidFill>
                  <a:srgbClr val="F1F5F9"/>
                </a:solidFill>
                <a:latin typeface="Inter"/>
                <a:ea typeface="Inter"/>
                <a:cs typeface="Inter"/>
                <a:sym typeface="Inter"/>
              </a:rPr>
              <a:t>Tầng Nghiệp vụ:</a:t>
            </a:r>
            <a:r>
              <a:rPr b="0" lang="en-US" sz="1350">
                <a:solidFill>
                  <a:srgbClr val="94A3B8"/>
                </a:solidFill>
                <a:latin typeface="Inter"/>
                <a:ea typeface="Inter"/>
                <a:cs typeface="Inter"/>
                <a:sym typeface="Inter"/>
              </a:rPr>
              <a:t> Service Layer (Logic nghiệp vụ).</a:t>
            </a:r>
            <a:endParaRPr b="1" sz="1350">
              <a:solidFill>
                <a:srgbClr val="F1F5F9"/>
              </a:solidFill>
              <a:latin typeface="Inter"/>
              <a:ea typeface="Inter"/>
              <a:cs typeface="Inter"/>
              <a:sym typeface="Inter"/>
            </a:endParaRPr>
          </a:p>
        </p:txBody>
      </p:sp>
      <p:sp>
        <p:nvSpPr>
          <p:cNvPr id="97" name="Google Shape;97;p14"/>
          <p:cNvSpPr txBox="1"/>
          <p:nvPr/>
        </p:nvSpPr>
        <p:spPr>
          <a:xfrm>
            <a:off x="581025" y="4262438"/>
            <a:ext cx="5324400" cy="207900"/>
          </a:xfrm>
          <a:prstGeom prst="rect">
            <a:avLst/>
          </a:prstGeom>
          <a:solidFill>
            <a:srgbClr val="000000">
              <a:alpha val="0"/>
            </a:srgbClr>
          </a:solidFill>
          <a:ln>
            <a:noFill/>
          </a:ln>
        </p:spPr>
        <p:txBody>
          <a:bodyPr anchorCtr="0" anchor="t" bIns="0" lIns="247650" spcFirstLastPara="1" rIns="0" wrap="square" tIns="0">
            <a:spAutoFit/>
          </a:bodyPr>
          <a:lstStyle/>
          <a:p>
            <a:pPr indent="0" lvl="0" marL="0" rtl="0" algn="l">
              <a:spcBef>
                <a:spcPts val="0"/>
              </a:spcBef>
              <a:spcAft>
                <a:spcPts val="0"/>
              </a:spcAft>
              <a:buNone/>
            </a:pPr>
            <a:r>
              <a:rPr b="1" lang="en-US" sz="1350">
                <a:solidFill>
                  <a:srgbClr val="F1F5F9"/>
                </a:solidFill>
                <a:latin typeface="Inter"/>
                <a:ea typeface="Inter"/>
                <a:cs typeface="Inter"/>
                <a:sym typeface="Inter"/>
              </a:rPr>
              <a:t>Tầng Lưu trữ:</a:t>
            </a:r>
            <a:r>
              <a:rPr b="0" lang="en-US" sz="1350">
                <a:solidFill>
                  <a:srgbClr val="94A3B8"/>
                </a:solidFill>
                <a:latin typeface="Inter"/>
                <a:ea typeface="Inter"/>
                <a:cs typeface="Inter"/>
                <a:sym typeface="Inter"/>
              </a:rPr>
              <a:t> Repository (Truy xuất CSV).</a:t>
            </a:r>
            <a:endParaRPr b="1" sz="1350">
              <a:solidFill>
                <a:srgbClr val="F1F5F9"/>
              </a:solidFill>
              <a:latin typeface="Inter"/>
              <a:ea typeface="Inter"/>
              <a:cs typeface="Inter"/>
              <a:sym typeface="Inter"/>
            </a:endParaRPr>
          </a:p>
        </p:txBody>
      </p:sp>
      <p:sp>
        <p:nvSpPr>
          <p:cNvPr id="98" name="Google Shape;98;p14"/>
          <p:cNvSpPr txBox="1"/>
          <p:nvPr/>
        </p:nvSpPr>
        <p:spPr>
          <a:xfrm>
            <a:off x="581025" y="4662488"/>
            <a:ext cx="5324400" cy="207900"/>
          </a:xfrm>
          <a:prstGeom prst="rect">
            <a:avLst/>
          </a:prstGeom>
          <a:solidFill>
            <a:srgbClr val="000000">
              <a:alpha val="0"/>
            </a:srgbClr>
          </a:solidFill>
          <a:ln>
            <a:noFill/>
          </a:ln>
        </p:spPr>
        <p:txBody>
          <a:bodyPr anchorCtr="0" anchor="t" bIns="0" lIns="247650" spcFirstLastPara="1" rIns="0" wrap="square" tIns="0">
            <a:spAutoFit/>
          </a:bodyPr>
          <a:lstStyle/>
          <a:p>
            <a:pPr indent="0" lvl="0" marL="0" rtl="0" algn="l">
              <a:spcBef>
                <a:spcPts val="0"/>
              </a:spcBef>
              <a:spcAft>
                <a:spcPts val="0"/>
              </a:spcAft>
              <a:buNone/>
            </a:pPr>
            <a:r>
              <a:rPr b="1" lang="en-US" sz="1350">
                <a:solidFill>
                  <a:srgbClr val="F1F5F9"/>
                </a:solidFill>
                <a:latin typeface="Inter"/>
                <a:ea typeface="Inter"/>
                <a:cs typeface="Inter"/>
                <a:sym typeface="Inter"/>
              </a:rPr>
              <a:t>Tầng Dữ liệu:</a:t>
            </a:r>
            <a:r>
              <a:rPr b="0" lang="en-US" sz="1350">
                <a:solidFill>
                  <a:srgbClr val="94A3B8"/>
                </a:solidFill>
                <a:latin typeface="Inter"/>
                <a:ea typeface="Inter"/>
                <a:cs typeface="Inter"/>
                <a:sym typeface="Inter"/>
              </a:rPr>
              <a:t> Entities (Đối tượng dữ liệu).</a:t>
            </a:r>
            <a:endParaRPr b="1" sz="1350">
              <a:solidFill>
                <a:srgbClr val="F1F5F9"/>
              </a:solidFill>
              <a:latin typeface="Inter"/>
              <a:ea typeface="Inter"/>
              <a:cs typeface="Inter"/>
              <a:sym typeface="Inter"/>
            </a:endParaRPr>
          </a:p>
        </p:txBody>
      </p:sp>
      <p:pic>
        <p:nvPicPr>
          <p:cNvPr descr="image.png" id="99" name="Google Shape;99;p14"/>
          <p:cNvPicPr preferRelativeResize="0"/>
          <p:nvPr/>
        </p:nvPicPr>
        <p:blipFill rotWithShape="1">
          <a:blip r:embed="rId4">
            <a:alphaModFix/>
          </a:blip>
          <a:srcRect b="0" l="0" r="0" t="0"/>
          <a:stretch/>
        </p:blipFill>
        <p:spPr>
          <a:xfrm>
            <a:off x="581025" y="3505200"/>
            <a:ext cx="190500" cy="180975"/>
          </a:xfrm>
          <a:prstGeom prst="rect">
            <a:avLst/>
          </a:prstGeom>
          <a:noFill/>
          <a:ln>
            <a:noFill/>
          </a:ln>
        </p:spPr>
      </p:pic>
      <p:pic>
        <p:nvPicPr>
          <p:cNvPr descr="image.png" id="100" name="Google Shape;100;p14"/>
          <p:cNvPicPr preferRelativeResize="0"/>
          <p:nvPr/>
        </p:nvPicPr>
        <p:blipFill rotWithShape="1">
          <a:blip r:embed="rId5">
            <a:alphaModFix/>
          </a:blip>
          <a:srcRect b="0" l="0" r="0" t="0"/>
          <a:stretch/>
        </p:blipFill>
        <p:spPr>
          <a:xfrm>
            <a:off x="581025" y="3905250"/>
            <a:ext cx="171450" cy="180975"/>
          </a:xfrm>
          <a:prstGeom prst="rect">
            <a:avLst/>
          </a:prstGeom>
          <a:noFill/>
          <a:ln>
            <a:noFill/>
          </a:ln>
        </p:spPr>
      </p:pic>
      <p:pic>
        <p:nvPicPr>
          <p:cNvPr descr="image.png" id="101" name="Google Shape;101;p14"/>
          <p:cNvPicPr preferRelativeResize="0"/>
          <p:nvPr/>
        </p:nvPicPr>
        <p:blipFill rotWithShape="1">
          <a:blip r:embed="rId6">
            <a:alphaModFix/>
          </a:blip>
          <a:srcRect b="0" l="0" r="0" t="0"/>
          <a:stretch/>
        </p:blipFill>
        <p:spPr>
          <a:xfrm>
            <a:off x="581025" y="4305300"/>
            <a:ext cx="152400" cy="180975"/>
          </a:xfrm>
          <a:prstGeom prst="rect">
            <a:avLst/>
          </a:prstGeom>
          <a:noFill/>
          <a:ln>
            <a:noFill/>
          </a:ln>
        </p:spPr>
      </p:pic>
      <p:pic>
        <p:nvPicPr>
          <p:cNvPr descr="image.png" id="102" name="Google Shape;102;p14"/>
          <p:cNvPicPr preferRelativeResize="0"/>
          <p:nvPr/>
        </p:nvPicPr>
        <p:blipFill rotWithShape="1">
          <a:blip r:embed="rId7">
            <a:alphaModFix/>
          </a:blip>
          <a:srcRect b="0" l="0" r="0" t="0"/>
          <a:stretch/>
        </p:blipFill>
        <p:spPr>
          <a:xfrm>
            <a:off x="581025" y="4705350"/>
            <a:ext cx="152400" cy="180975"/>
          </a:xfrm>
          <a:prstGeom prst="rect">
            <a:avLst/>
          </a:prstGeom>
          <a:noFill/>
          <a:ln>
            <a:noFill/>
          </a:ln>
        </p:spPr>
      </p:pic>
      <p:sp>
        <p:nvSpPr>
          <p:cNvPr id="103" name="Google Shape;103;p14"/>
          <p:cNvSpPr txBox="1"/>
          <p:nvPr/>
        </p:nvSpPr>
        <p:spPr>
          <a:xfrm>
            <a:off x="771525" y="581025"/>
            <a:ext cx="81561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Inter"/>
                <a:ea typeface="Inter"/>
                <a:cs typeface="Inter"/>
                <a:sym typeface="Inter"/>
              </a:rPr>
              <a:t>KIẾN TRÚC ĐA TẦNG (MULTI-LAYER)</a:t>
            </a:r>
            <a:endParaRPr/>
          </a:p>
        </p:txBody>
      </p:sp>
      <p:sp>
        <p:nvSpPr>
          <p:cNvPr id="104" name="Google Shape;104;p14"/>
          <p:cNvSpPr/>
          <p:nvPr/>
        </p:nvSpPr>
        <p:spPr>
          <a:xfrm>
            <a:off x="581025" y="581025"/>
            <a:ext cx="47700" cy="4857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5" name="Google Shape;105;p14"/>
          <p:cNvGrpSpPr/>
          <p:nvPr/>
        </p:nvGrpSpPr>
        <p:grpSpPr>
          <a:xfrm>
            <a:off x="6472238" y="1709738"/>
            <a:ext cx="4767263" cy="3343200"/>
            <a:chOff x="6472238" y="1709738"/>
            <a:chExt cx="4767263" cy="3343200"/>
          </a:xfrm>
        </p:grpSpPr>
        <p:pic>
          <p:nvPicPr>
            <p:cNvPr descr="A clean, professional 3D isometric diagram showing four colored layers stacked vertically (Blue, Green, Yellow, Red) representing software architecture layers, glowing edges, dark slate background, high contrast." id="106" name="Google Shape;106;p14"/>
            <p:cNvPicPr preferRelativeResize="0"/>
            <p:nvPr/>
          </p:nvPicPr>
          <p:blipFill rotWithShape="1">
            <a:blip r:embed="rId8">
              <a:alphaModFix/>
            </a:blip>
            <a:srcRect b="3332" l="0" r="0" t="3332"/>
            <a:stretch/>
          </p:blipFill>
          <p:spPr>
            <a:xfrm>
              <a:off x="6477000" y="1714500"/>
              <a:ext cx="4762500" cy="3333900"/>
            </a:xfrm>
            <a:prstGeom prst="roundRect">
              <a:avLst>
                <a:gd fmla="val 2857" name="adj"/>
              </a:avLst>
            </a:prstGeom>
            <a:noFill/>
            <a:ln>
              <a:noFill/>
            </a:ln>
          </p:spPr>
        </p:pic>
        <p:pic>
          <p:nvPicPr>
            <p:cNvPr id="107" name="Google Shape;107;p14"/>
            <p:cNvPicPr preferRelativeResize="0"/>
            <p:nvPr/>
          </p:nvPicPr>
          <p:blipFill rotWithShape="1">
            <a:blip r:embed="rId9">
              <a:alphaModFix/>
            </a:blip>
            <a:srcRect b="0" l="0" r="0" t="0"/>
            <a:stretch/>
          </p:blipFill>
          <p:spPr>
            <a:xfrm>
              <a:off x="6472238" y="1709738"/>
              <a:ext cx="2671800" cy="3343200"/>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1" name="Shape 111"/>
        <p:cNvGrpSpPr/>
        <p:nvPr/>
      </p:nvGrpSpPr>
      <p:grpSpPr>
        <a:xfrm>
          <a:off x="0" y="0"/>
          <a:ext cx="0" cy="0"/>
          <a:chOff x="0" y="0"/>
          <a:chExt cx="0" cy="0"/>
        </a:xfrm>
      </p:grpSpPr>
      <p:pic>
        <p:nvPicPr>
          <p:cNvPr descr="image.png" id="112" name="Google Shape;112;p1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13" name="Google Shape;113;p15"/>
          <p:cNvGrpSpPr/>
          <p:nvPr/>
        </p:nvGrpSpPr>
        <p:grpSpPr>
          <a:xfrm>
            <a:off x="571500" y="2286000"/>
            <a:ext cx="10858650" cy="2286000"/>
            <a:chOff x="571500" y="2286000"/>
            <a:chExt cx="10858650" cy="2286000"/>
          </a:xfrm>
        </p:grpSpPr>
        <p:sp>
          <p:nvSpPr>
            <p:cNvPr id="114" name="Google Shape;114;p15"/>
            <p:cNvSpPr/>
            <p:nvPr/>
          </p:nvSpPr>
          <p:spPr>
            <a:xfrm>
              <a:off x="571500" y="2286000"/>
              <a:ext cx="2571900" cy="2286000"/>
            </a:xfrm>
            <a:prstGeom prst="roundRect">
              <a:avLst>
                <a:gd fmla="val 5000" name="adj"/>
              </a:avLst>
            </a:prstGeom>
            <a:solidFill>
              <a:srgbClr val="1E293B"/>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5"/>
            <p:cNvSpPr txBox="1"/>
            <p:nvPr/>
          </p:nvSpPr>
          <p:spPr>
            <a:xfrm>
              <a:off x="571500" y="2286000"/>
              <a:ext cx="2571900" cy="22860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en-US" sz="1800">
                  <a:solidFill>
                    <a:srgbClr val="38BDF8"/>
                  </a:solidFill>
                  <a:latin typeface="Inter"/>
                  <a:ea typeface="Inter"/>
                  <a:cs typeface="Inter"/>
                  <a:sym typeface="Inter"/>
                </a:rPr>
                <a:t>Student</a:t>
              </a:r>
              <a:endParaRPr b="1" sz="1800">
                <a:solidFill>
                  <a:srgbClr val="38BDF8"/>
                </a:solidFill>
                <a:latin typeface="Inter"/>
                <a:ea typeface="Inter"/>
                <a:cs typeface="Inter"/>
                <a:sym typeface="Inter"/>
              </a:endParaRPr>
            </a:p>
            <a:p>
              <a:pPr indent="0" lvl="0" marL="0" rtl="0" algn="l">
                <a:spcBef>
                  <a:spcPts val="1125"/>
                </a:spcBef>
                <a:spcAft>
                  <a:spcPts val="0"/>
                </a:spcAft>
                <a:buNone/>
              </a:pPr>
              <a:r>
                <a:rPr b="0" lang="en-US" sz="1100">
                  <a:solidFill>
                    <a:srgbClr val="94A3B8"/>
                  </a:solidFill>
                  <a:latin typeface="Inter"/>
                  <a:ea typeface="Inter"/>
                  <a:cs typeface="Inter"/>
                  <a:sym typeface="Inter"/>
                </a:rPr>
                <a:t>Quản lý ID, Name, DoB, Sex, ClassroomId. Là hạt nhân của hệ thống, chứa các phương thức toCSV().</a:t>
              </a:r>
              <a:endParaRPr b="0" sz="1100">
                <a:solidFill>
                  <a:srgbClr val="94A3B8"/>
                </a:solidFill>
                <a:latin typeface="Inter"/>
                <a:ea typeface="Inter"/>
                <a:cs typeface="Inter"/>
                <a:sym typeface="Inter"/>
              </a:endParaRPr>
            </a:p>
          </p:txBody>
        </p:sp>
        <p:sp>
          <p:nvSpPr>
            <p:cNvPr id="116" name="Google Shape;116;p15"/>
            <p:cNvSpPr/>
            <p:nvPr/>
          </p:nvSpPr>
          <p:spPr>
            <a:xfrm>
              <a:off x="3333750" y="2286000"/>
              <a:ext cx="2571900" cy="2286000"/>
            </a:xfrm>
            <a:prstGeom prst="roundRect">
              <a:avLst>
                <a:gd fmla="val 5000" name="adj"/>
              </a:avLst>
            </a:prstGeom>
            <a:solidFill>
              <a:srgbClr val="1E293B"/>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5"/>
            <p:cNvSpPr txBox="1"/>
            <p:nvPr/>
          </p:nvSpPr>
          <p:spPr>
            <a:xfrm>
              <a:off x="3333750" y="2286000"/>
              <a:ext cx="2571900" cy="22860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en-US" sz="1800">
                  <a:solidFill>
                    <a:srgbClr val="38BDF8"/>
                  </a:solidFill>
                  <a:latin typeface="Inter"/>
                  <a:ea typeface="Inter"/>
                  <a:cs typeface="Inter"/>
                  <a:sym typeface="Inter"/>
                </a:rPr>
                <a:t>Class</a:t>
              </a:r>
              <a:endParaRPr b="1" sz="1800">
                <a:solidFill>
                  <a:srgbClr val="38BDF8"/>
                </a:solidFill>
                <a:latin typeface="Inter"/>
                <a:ea typeface="Inter"/>
                <a:cs typeface="Inter"/>
                <a:sym typeface="Inter"/>
              </a:endParaRPr>
            </a:p>
            <a:p>
              <a:pPr indent="0" lvl="0" marL="0" rtl="0" algn="l">
                <a:spcBef>
                  <a:spcPts val="1125"/>
                </a:spcBef>
                <a:spcAft>
                  <a:spcPts val="0"/>
                </a:spcAft>
                <a:buNone/>
              </a:pPr>
              <a:r>
                <a:rPr b="0" lang="en-US" sz="1100">
                  <a:solidFill>
                    <a:srgbClr val="94A3B8"/>
                  </a:solidFill>
                  <a:latin typeface="Inter"/>
                  <a:ea typeface="Inter"/>
                  <a:cs typeface="Inter"/>
                  <a:sym typeface="Inter"/>
                </a:rPr>
                <a:t>Quản lý thông tin lớp học, bao gồm danh sách sinh viên. Định nghĩa cấu trúc nhóm trong hệ thống.</a:t>
              </a:r>
              <a:endParaRPr b="0" sz="1100">
                <a:solidFill>
                  <a:srgbClr val="94A3B8"/>
                </a:solidFill>
                <a:latin typeface="Inter"/>
                <a:ea typeface="Inter"/>
                <a:cs typeface="Inter"/>
                <a:sym typeface="Inter"/>
              </a:endParaRPr>
            </a:p>
          </p:txBody>
        </p:sp>
        <p:sp>
          <p:nvSpPr>
            <p:cNvPr id="118" name="Google Shape;118;p15"/>
            <p:cNvSpPr/>
            <p:nvPr/>
          </p:nvSpPr>
          <p:spPr>
            <a:xfrm>
              <a:off x="6096000" y="2286000"/>
              <a:ext cx="2571900" cy="2286000"/>
            </a:xfrm>
            <a:prstGeom prst="roundRect">
              <a:avLst>
                <a:gd fmla="val 5000" name="adj"/>
              </a:avLst>
            </a:prstGeom>
            <a:solidFill>
              <a:srgbClr val="1E293B"/>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txBox="1"/>
            <p:nvPr/>
          </p:nvSpPr>
          <p:spPr>
            <a:xfrm>
              <a:off x="6096000" y="2286000"/>
              <a:ext cx="2571900" cy="22860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en-US" sz="1800">
                  <a:solidFill>
                    <a:srgbClr val="38BDF8"/>
                  </a:solidFill>
                  <a:latin typeface="Inter"/>
                  <a:ea typeface="Inter"/>
                  <a:cs typeface="Inter"/>
                  <a:sym typeface="Inter"/>
                </a:rPr>
                <a:t>Subject</a:t>
              </a:r>
              <a:endParaRPr b="1" sz="1800">
                <a:solidFill>
                  <a:srgbClr val="38BDF8"/>
                </a:solidFill>
                <a:latin typeface="Inter"/>
                <a:ea typeface="Inter"/>
                <a:cs typeface="Inter"/>
                <a:sym typeface="Inter"/>
              </a:endParaRPr>
            </a:p>
            <a:p>
              <a:pPr indent="0" lvl="0" marL="0" rtl="0" algn="l">
                <a:spcBef>
                  <a:spcPts val="1125"/>
                </a:spcBef>
                <a:spcAft>
                  <a:spcPts val="0"/>
                </a:spcAft>
                <a:buNone/>
              </a:pPr>
              <a:r>
                <a:rPr b="0" lang="en-US" sz="1100">
                  <a:solidFill>
                    <a:srgbClr val="94A3B8"/>
                  </a:solidFill>
                  <a:latin typeface="Inter"/>
                  <a:ea typeface="Inter"/>
                  <a:cs typeface="Inter"/>
                  <a:sym typeface="Inter"/>
                </a:rPr>
                <a:t>Lưu trữ mã môn học, tên môn và hệ số. Cung cấp cấu trúc để tính toán điểm trung bình.</a:t>
              </a:r>
              <a:endParaRPr b="0" sz="1100">
                <a:solidFill>
                  <a:srgbClr val="94A3B8"/>
                </a:solidFill>
                <a:latin typeface="Inter"/>
                <a:ea typeface="Inter"/>
                <a:cs typeface="Inter"/>
                <a:sym typeface="Inter"/>
              </a:endParaRPr>
            </a:p>
          </p:txBody>
        </p:sp>
        <p:sp>
          <p:nvSpPr>
            <p:cNvPr id="120" name="Google Shape;120;p15"/>
            <p:cNvSpPr/>
            <p:nvPr/>
          </p:nvSpPr>
          <p:spPr>
            <a:xfrm>
              <a:off x="8858250" y="2286000"/>
              <a:ext cx="2571900" cy="2286000"/>
            </a:xfrm>
            <a:prstGeom prst="roundRect">
              <a:avLst>
                <a:gd fmla="val 5000" name="adj"/>
              </a:avLst>
            </a:prstGeom>
            <a:solidFill>
              <a:srgbClr val="1E293B"/>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5"/>
            <p:cNvSpPr txBox="1"/>
            <p:nvPr/>
          </p:nvSpPr>
          <p:spPr>
            <a:xfrm>
              <a:off x="8858250" y="2286000"/>
              <a:ext cx="2571900" cy="2286000"/>
            </a:xfrm>
            <a:prstGeom prst="rect">
              <a:avLst/>
            </a:prstGeom>
            <a:noFill/>
            <a:ln>
              <a:noFill/>
            </a:ln>
          </p:spPr>
          <p:txBody>
            <a:bodyPr anchorCtr="0" anchor="t" bIns="238125" lIns="238125" spcFirstLastPara="1" rIns="238125" wrap="square" tIns="238125">
              <a:noAutofit/>
            </a:bodyPr>
            <a:lstStyle/>
            <a:p>
              <a:pPr indent="0" lvl="0" marL="0" rtl="0" algn="l">
                <a:spcBef>
                  <a:spcPts val="0"/>
                </a:spcBef>
                <a:spcAft>
                  <a:spcPts val="0"/>
                </a:spcAft>
                <a:buNone/>
              </a:pPr>
              <a:r>
                <a:rPr b="1" lang="en-US" sz="1800">
                  <a:solidFill>
                    <a:srgbClr val="38BDF8"/>
                  </a:solidFill>
                  <a:latin typeface="Inter"/>
                  <a:ea typeface="Inter"/>
                  <a:cs typeface="Inter"/>
                  <a:sym typeface="Inter"/>
                </a:rPr>
                <a:t>Score</a:t>
              </a:r>
              <a:endParaRPr b="1" sz="1800">
                <a:solidFill>
                  <a:srgbClr val="38BDF8"/>
                </a:solidFill>
                <a:latin typeface="Inter"/>
                <a:ea typeface="Inter"/>
                <a:cs typeface="Inter"/>
                <a:sym typeface="Inter"/>
              </a:endParaRPr>
            </a:p>
            <a:p>
              <a:pPr indent="0" lvl="0" marL="0" rtl="0" algn="l">
                <a:spcBef>
                  <a:spcPts val="1125"/>
                </a:spcBef>
                <a:spcAft>
                  <a:spcPts val="0"/>
                </a:spcAft>
                <a:buNone/>
              </a:pPr>
              <a:r>
                <a:rPr b="0" lang="en-US" sz="1100">
                  <a:solidFill>
                    <a:srgbClr val="94A3B8"/>
                  </a:solidFill>
                  <a:latin typeface="Inter"/>
                  <a:ea typeface="Inter"/>
                  <a:cs typeface="Inter"/>
                  <a:sym typeface="Inter"/>
                </a:rPr>
                <a:t>Bảng trung gian kết nối Student và Subject. Lưu trữ điểm thành phần và trạng thái học tập.</a:t>
              </a:r>
              <a:endParaRPr b="0" sz="1100">
                <a:solidFill>
                  <a:srgbClr val="94A3B8"/>
                </a:solidFill>
                <a:latin typeface="Inter"/>
                <a:ea typeface="Inter"/>
                <a:cs typeface="Inter"/>
                <a:sym typeface="Inter"/>
              </a:endParaRPr>
            </a:p>
          </p:txBody>
        </p:sp>
      </p:grpSp>
      <p:sp>
        <p:nvSpPr>
          <p:cNvPr id="122" name="Google Shape;122;p15"/>
          <p:cNvSpPr txBox="1"/>
          <p:nvPr/>
        </p:nvSpPr>
        <p:spPr>
          <a:xfrm>
            <a:off x="771525" y="581025"/>
            <a:ext cx="110301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3200">
                <a:solidFill>
                  <a:srgbClr val="38BDF8"/>
                </a:solidFill>
                <a:latin typeface="Inter"/>
                <a:ea typeface="Inter"/>
                <a:cs typeface="Inter"/>
                <a:sym typeface="Inter"/>
              </a:rPr>
              <a:t>MÔ-ĐUN 1: ENTITY (DATA BLUEPRINTS)</a:t>
            </a:r>
            <a:endParaRPr b="1" i="0" sz="3200">
              <a:solidFill>
                <a:srgbClr val="38BDF8"/>
              </a:solidFill>
              <a:latin typeface="Inter"/>
              <a:ea typeface="Inter"/>
              <a:cs typeface="Inter"/>
              <a:sym typeface="Inter"/>
            </a:endParaRPr>
          </a:p>
        </p:txBody>
      </p:sp>
      <p:sp>
        <p:nvSpPr>
          <p:cNvPr id="123" name="Google Shape;123;p15"/>
          <p:cNvSpPr/>
          <p:nvPr/>
        </p:nvSpPr>
        <p:spPr>
          <a:xfrm>
            <a:off x="581025" y="581025"/>
            <a:ext cx="47700" cy="4857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5"/>
          <p:cNvSpPr txBox="1"/>
          <p:nvPr/>
        </p:nvSpPr>
        <p:spPr>
          <a:xfrm>
            <a:off x="571500" y="4953000"/>
            <a:ext cx="11049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94A3B8"/>
                </a:solidFill>
                <a:latin typeface="Inter"/>
                <a:ea typeface="Inter"/>
                <a:cs typeface="Inter"/>
                <a:sym typeface="Inter"/>
              </a:rPr>
              <a:t>Các thực thể (Entities) đóng vai trò là xương sống của dữ liệu, định nghĩa cấu trúc và quan hệ giữa các đối tượng trong hệ thống Java MVC.</a:t>
            </a:r>
            <a:endParaRPr sz="1400">
              <a:solidFill>
                <a:srgbClr val="94A3B8"/>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8" name="Shape 128"/>
        <p:cNvGrpSpPr/>
        <p:nvPr/>
      </p:nvGrpSpPr>
      <p:grpSpPr>
        <a:xfrm>
          <a:off x="0" y="0"/>
          <a:ext cx="0" cy="0"/>
          <a:chOff x="0" y="0"/>
          <a:chExt cx="0" cy="0"/>
        </a:xfrm>
      </p:grpSpPr>
      <p:grpSp>
        <p:nvGrpSpPr>
          <p:cNvPr id="129" name="Google Shape;129;p16"/>
          <p:cNvGrpSpPr/>
          <p:nvPr/>
        </p:nvGrpSpPr>
        <p:grpSpPr>
          <a:xfrm>
            <a:off x="2147888" y="1524000"/>
            <a:ext cx="7758113" cy="3533775"/>
            <a:chOff x="2147888" y="1524000"/>
            <a:chExt cx="7758113" cy="3533775"/>
          </a:xfrm>
        </p:grpSpPr>
        <p:sp>
          <p:nvSpPr>
            <p:cNvPr id="130" name="Google Shape;130;p16"/>
            <p:cNvSpPr/>
            <p:nvPr/>
          </p:nvSpPr>
          <p:spPr>
            <a:xfrm>
              <a:off x="4953000" y="1524000"/>
              <a:ext cx="2286000" cy="571500"/>
            </a:xfrm>
            <a:prstGeom prst="roundRect">
              <a:avLst>
                <a:gd fmla="val 50000" name="adj"/>
              </a:avLst>
            </a:prstGeom>
            <a:solidFill>
              <a:srgbClr val="1E293B"/>
            </a:solidFill>
            <a:ln cap="flat" cmpd="sng" w="1905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6"/>
            <p:cNvSpPr txBox="1"/>
            <p:nvPr/>
          </p:nvSpPr>
          <p:spPr>
            <a:xfrm>
              <a:off x="4953000" y="1524000"/>
              <a:ext cx="2286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38BDF8"/>
                  </a:solidFill>
                  <a:latin typeface="Inter"/>
                  <a:ea typeface="Inter"/>
                  <a:cs typeface="Inter"/>
                  <a:sym typeface="Inter"/>
                </a:rPr>
                <a:t>Project Root (System)</a:t>
              </a:r>
              <a:endParaRPr b="1" sz="1600">
                <a:solidFill>
                  <a:srgbClr val="38BDF8"/>
                </a:solidFill>
                <a:latin typeface="Inter"/>
                <a:ea typeface="Inter"/>
                <a:cs typeface="Inter"/>
                <a:sym typeface="Inter"/>
              </a:endParaRPr>
            </a:p>
          </p:txBody>
        </p:sp>
        <p:pic>
          <p:nvPicPr>
            <p:cNvPr id="132" name="Google Shape;132;p16"/>
            <p:cNvPicPr preferRelativeResize="0"/>
            <p:nvPr/>
          </p:nvPicPr>
          <p:blipFill rotWithShape="1">
            <a:blip r:embed="rId3">
              <a:alphaModFix/>
            </a:blip>
            <a:srcRect b="0" l="0" r="0" t="0"/>
            <a:stretch/>
          </p:blipFill>
          <p:spPr>
            <a:xfrm>
              <a:off x="2147888" y="2571750"/>
              <a:ext cx="2181300" cy="666900"/>
            </a:xfrm>
            <a:prstGeom prst="rect">
              <a:avLst/>
            </a:prstGeom>
            <a:noFill/>
            <a:ln>
              <a:noFill/>
            </a:ln>
          </p:spPr>
        </p:pic>
        <p:sp>
          <p:nvSpPr>
            <p:cNvPr id="133" name="Google Shape;133;p16"/>
            <p:cNvSpPr txBox="1"/>
            <p:nvPr/>
          </p:nvSpPr>
          <p:spPr>
            <a:xfrm>
              <a:off x="2286000" y="2667000"/>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1F5F9"/>
                  </a:solidFill>
                  <a:latin typeface="Inter"/>
                  <a:ea typeface="Inter"/>
                  <a:cs typeface="Inter"/>
                  <a:sym typeface="Inter"/>
                </a:rPr>
                <a:t>Classroom</a:t>
              </a:r>
              <a:endParaRPr b="1" sz="1400">
                <a:solidFill>
                  <a:srgbClr val="F1F5F9"/>
                </a:solidFill>
                <a:latin typeface="Inter"/>
                <a:ea typeface="Inter"/>
                <a:cs typeface="Inter"/>
                <a:sym typeface="Inter"/>
              </a:endParaRPr>
            </a:p>
          </p:txBody>
        </p:sp>
        <p:pic>
          <p:nvPicPr>
            <p:cNvPr id="134" name="Google Shape;134;p16"/>
            <p:cNvPicPr preferRelativeResize="0"/>
            <p:nvPr/>
          </p:nvPicPr>
          <p:blipFill rotWithShape="1">
            <a:blip r:embed="rId4">
              <a:alphaModFix/>
            </a:blip>
            <a:srcRect b="0" l="0" r="0" t="0"/>
            <a:stretch/>
          </p:blipFill>
          <p:spPr>
            <a:xfrm>
              <a:off x="3228975" y="1800225"/>
              <a:ext cx="1724100" cy="866700"/>
            </a:xfrm>
            <a:prstGeom prst="rect">
              <a:avLst/>
            </a:prstGeom>
            <a:noFill/>
            <a:ln>
              <a:noFill/>
            </a:ln>
          </p:spPr>
        </p:pic>
        <p:sp>
          <p:nvSpPr>
            <p:cNvPr id="135" name="Google Shape;135;p16"/>
            <p:cNvSpPr/>
            <p:nvPr/>
          </p:nvSpPr>
          <p:spPr>
            <a:xfrm>
              <a:off x="8001000" y="2667000"/>
              <a:ext cx="1905000" cy="476400"/>
            </a:xfrm>
            <a:prstGeom prst="roundRect">
              <a:avLst>
                <a:gd fmla="val 16000" name="adj"/>
              </a:avLst>
            </a:prstGeom>
            <a:solidFill>
              <a:srgbClr val="1E293B"/>
            </a:solidFill>
            <a:ln cap="flat" cmpd="sng" w="1905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8001000" y="2667000"/>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1F5F9"/>
                  </a:solidFill>
                  <a:latin typeface="Inter"/>
                  <a:ea typeface="Inter"/>
                  <a:cs typeface="Inter"/>
                  <a:sym typeface="Inter"/>
                </a:rPr>
                <a:t>Subject</a:t>
              </a:r>
              <a:endParaRPr b="1" sz="1400">
                <a:solidFill>
                  <a:srgbClr val="F1F5F9"/>
                </a:solidFill>
                <a:latin typeface="Inter"/>
                <a:ea typeface="Inter"/>
                <a:cs typeface="Inter"/>
                <a:sym typeface="Inter"/>
              </a:endParaRPr>
            </a:p>
          </p:txBody>
        </p:sp>
        <p:pic>
          <p:nvPicPr>
            <p:cNvPr id="137" name="Google Shape;137;p16"/>
            <p:cNvPicPr preferRelativeResize="0"/>
            <p:nvPr/>
          </p:nvPicPr>
          <p:blipFill rotWithShape="1">
            <a:blip r:embed="rId5">
              <a:alphaModFix/>
            </a:blip>
            <a:srcRect b="0" l="0" r="0" t="0"/>
            <a:stretch/>
          </p:blipFill>
          <p:spPr>
            <a:xfrm>
              <a:off x="7239000" y="1800225"/>
              <a:ext cx="1724100" cy="866700"/>
            </a:xfrm>
            <a:prstGeom prst="rect">
              <a:avLst/>
            </a:prstGeom>
            <a:noFill/>
            <a:ln>
              <a:noFill/>
            </a:ln>
          </p:spPr>
        </p:pic>
        <p:sp>
          <p:nvSpPr>
            <p:cNvPr id="138" name="Google Shape;138;p16"/>
            <p:cNvSpPr/>
            <p:nvPr/>
          </p:nvSpPr>
          <p:spPr>
            <a:xfrm>
              <a:off x="2286000" y="3619500"/>
              <a:ext cx="1905000" cy="476400"/>
            </a:xfrm>
            <a:prstGeom prst="roundRect">
              <a:avLst>
                <a:gd fmla="val 16000" name="adj"/>
              </a:avLst>
            </a:prstGeom>
            <a:solidFill>
              <a:srgbClr val="0F172A"/>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2286000" y="3619500"/>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00">
                  <a:solidFill>
                    <a:srgbClr val="94A3B8"/>
                  </a:solidFill>
                  <a:latin typeface="Inter SemiBold"/>
                  <a:ea typeface="Inter SemiBold"/>
                  <a:cs typeface="Inter SemiBold"/>
                  <a:sym typeface="Inter SemiBold"/>
                </a:rPr>
                <a:t>Student</a:t>
              </a:r>
              <a:endParaRPr b="0" sz="1300">
                <a:solidFill>
                  <a:srgbClr val="94A3B8"/>
                </a:solidFill>
                <a:latin typeface="Inter SemiBold"/>
                <a:ea typeface="Inter SemiBold"/>
                <a:cs typeface="Inter SemiBold"/>
                <a:sym typeface="Inter SemiBold"/>
              </a:endParaRPr>
            </a:p>
          </p:txBody>
        </p:sp>
        <p:cxnSp>
          <p:nvCxnSpPr>
            <p:cNvPr id="140" name="Google Shape;140;p16"/>
            <p:cNvCxnSpPr/>
            <p:nvPr/>
          </p:nvCxnSpPr>
          <p:spPr>
            <a:xfrm>
              <a:off x="3238500" y="3143250"/>
              <a:ext cx="0" cy="476400"/>
            </a:xfrm>
            <a:prstGeom prst="straightConnector1">
              <a:avLst/>
            </a:prstGeom>
            <a:solidFill>
              <a:srgbClr val="FFFFFF"/>
            </a:solidFill>
            <a:ln cap="flat" cmpd="sng" w="19050">
              <a:solidFill>
                <a:srgbClr val="38BDF8"/>
              </a:solidFill>
              <a:prstDash val="solid"/>
              <a:round/>
              <a:headEnd len="sm" w="sm" type="none"/>
              <a:tailEnd len="sm" w="sm" type="none"/>
            </a:ln>
          </p:spPr>
        </p:cxnSp>
        <p:pic>
          <p:nvPicPr>
            <p:cNvPr id="141" name="Google Shape;141;p16"/>
            <p:cNvPicPr preferRelativeResize="0"/>
            <p:nvPr/>
          </p:nvPicPr>
          <p:blipFill rotWithShape="1">
            <a:blip r:embed="rId6">
              <a:alphaModFix/>
            </a:blip>
            <a:srcRect b="0" l="0" r="0" t="0"/>
            <a:stretch/>
          </p:blipFill>
          <p:spPr>
            <a:xfrm>
              <a:off x="5133975" y="4562475"/>
              <a:ext cx="1924200" cy="495300"/>
            </a:xfrm>
            <a:prstGeom prst="rect">
              <a:avLst/>
            </a:prstGeom>
            <a:noFill/>
            <a:ln>
              <a:noFill/>
            </a:ln>
          </p:spPr>
        </p:pic>
        <p:sp>
          <p:nvSpPr>
            <p:cNvPr id="142" name="Google Shape;142;p16"/>
            <p:cNvSpPr txBox="1"/>
            <p:nvPr/>
          </p:nvSpPr>
          <p:spPr>
            <a:xfrm>
              <a:off x="5143500" y="4572000"/>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38BDF8"/>
                  </a:solidFill>
                  <a:latin typeface="Inter"/>
                  <a:ea typeface="Inter"/>
                  <a:cs typeface="Inter"/>
                  <a:sym typeface="Inter"/>
                </a:rPr>
                <a:t>Score</a:t>
              </a:r>
              <a:endParaRPr b="1" sz="1400">
                <a:solidFill>
                  <a:srgbClr val="38BDF8"/>
                </a:solidFill>
                <a:latin typeface="Inter"/>
                <a:ea typeface="Inter"/>
                <a:cs typeface="Inter"/>
                <a:sym typeface="Inter"/>
              </a:endParaRPr>
            </a:p>
          </p:txBody>
        </p:sp>
        <p:pic>
          <p:nvPicPr>
            <p:cNvPr id="143" name="Google Shape;143;p16"/>
            <p:cNvPicPr preferRelativeResize="0"/>
            <p:nvPr/>
          </p:nvPicPr>
          <p:blipFill rotWithShape="1">
            <a:blip r:embed="rId7">
              <a:alphaModFix/>
            </a:blip>
            <a:srcRect b="0" l="0" r="0" t="0"/>
            <a:stretch/>
          </p:blipFill>
          <p:spPr>
            <a:xfrm>
              <a:off x="3228975" y="4095750"/>
              <a:ext cx="1914600" cy="723900"/>
            </a:xfrm>
            <a:prstGeom prst="rect">
              <a:avLst/>
            </a:prstGeom>
            <a:noFill/>
            <a:ln>
              <a:noFill/>
            </a:ln>
          </p:spPr>
        </p:pic>
        <p:sp>
          <p:nvSpPr>
            <p:cNvPr id="144" name="Google Shape;144;p16"/>
            <p:cNvSpPr/>
            <p:nvPr/>
          </p:nvSpPr>
          <p:spPr>
            <a:xfrm>
              <a:off x="3200400" y="4057650"/>
              <a:ext cx="76200" cy="76200"/>
            </a:xfrm>
            <a:prstGeom prst="ellipse">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8">
              <a:alphaModFix/>
            </a:blip>
            <a:srcRect b="0" l="0" r="0" t="0"/>
            <a:stretch/>
          </p:blipFill>
          <p:spPr>
            <a:xfrm>
              <a:off x="7048500" y="3143250"/>
              <a:ext cx="1914600" cy="1676400"/>
            </a:xfrm>
            <a:prstGeom prst="rect">
              <a:avLst/>
            </a:prstGeom>
            <a:noFill/>
            <a:ln>
              <a:noFill/>
            </a:ln>
          </p:spPr>
        </p:pic>
        <p:sp>
          <p:nvSpPr>
            <p:cNvPr id="146" name="Google Shape;146;p16"/>
            <p:cNvSpPr/>
            <p:nvPr/>
          </p:nvSpPr>
          <p:spPr>
            <a:xfrm>
              <a:off x="8915400" y="3105150"/>
              <a:ext cx="76200" cy="76200"/>
            </a:xfrm>
            <a:prstGeom prst="ellipse">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7" name="Google Shape;147;p16"/>
          <p:cNvSpPr txBox="1"/>
          <p:nvPr/>
        </p:nvSpPr>
        <p:spPr>
          <a:xfrm>
            <a:off x="581025" y="5524500"/>
            <a:ext cx="11030100" cy="479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1400">
                <a:solidFill>
                  <a:srgbClr val="94A3B8"/>
                </a:solidFill>
                <a:latin typeface="Inter"/>
                <a:ea typeface="Inter"/>
                <a:cs typeface="Inter"/>
                <a:sym typeface="Inter"/>
              </a:rPr>
              <a:t>Phân cấp dữ liệu: </a:t>
            </a:r>
            <a:r>
              <a:rPr b="1" lang="en-US" sz="1400">
                <a:solidFill>
                  <a:srgbClr val="F1F5F9"/>
                </a:solidFill>
                <a:latin typeface="Inter"/>
                <a:ea typeface="Inter"/>
                <a:cs typeface="Inter"/>
                <a:sym typeface="Inter"/>
              </a:rPr>
              <a:t>Classroom</a:t>
            </a:r>
            <a:r>
              <a:rPr b="0" lang="en-US" sz="1400">
                <a:solidFill>
                  <a:srgbClr val="94A3B8"/>
                </a:solidFill>
                <a:latin typeface="Inter"/>
                <a:ea typeface="Inter"/>
                <a:cs typeface="Inter"/>
                <a:sym typeface="Inter"/>
              </a:rPr>
              <a:t> chứa danh sách </a:t>
            </a:r>
            <a:r>
              <a:rPr b="1" lang="en-US" sz="1400">
                <a:solidFill>
                  <a:srgbClr val="F1F5F9"/>
                </a:solidFill>
                <a:latin typeface="Inter"/>
                <a:ea typeface="Inter"/>
                <a:cs typeface="Inter"/>
                <a:sym typeface="Inter"/>
              </a:rPr>
              <a:t>Student</a:t>
            </a:r>
            <a:r>
              <a:rPr b="0" lang="en-US" sz="1400">
                <a:solidFill>
                  <a:srgbClr val="94A3B8"/>
                </a:solidFill>
                <a:latin typeface="Inter"/>
                <a:ea typeface="Inter"/>
                <a:cs typeface="Inter"/>
                <a:sym typeface="Inter"/>
              </a:rPr>
              <a:t>.</a:t>
            </a:r>
            <a:endParaRPr b="0" sz="1400">
              <a:solidFill>
                <a:srgbClr val="94A3B8"/>
              </a:solidFill>
              <a:latin typeface="Inter"/>
              <a:ea typeface="Inter"/>
              <a:cs typeface="Inter"/>
              <a:sym typeface="Inter"/>
            </a:endParaRPr>
          </a:p>
          <a:p>
            <a:pPr indent="0" lvl="0" marL="0" rtl="0" algn="ctr">
              <a:spcBef>
                <a:spcPts val="375"/>
              </a:spcBef>
              <a:spcAft>
                <a:spcPts val="0"/>
              </a:spcAft>
              <a:buNone/>
            </a:pPr>
            <a:r>
              <a:rPr b="1" lang="en-US" sz="1400">
                <a:solidFill>
                  <a:srgbClr val="F1F5F9"/>
                </a:solidFill>
                <a:latin typeface="Inter"/>
                <a:ea typeface="Inter"/>
                <a:cs typeface="Inter"/>
                <a:sym typeface="Inter"/>
              </a:rPr>
              <a:t>Score</a:t>
            </a:r>
            <a:r>
              <a:rPr b="0" lang="en-US" sz="1400">
                <a:solidFill>
                  <a:srgbClr val="94A3B8"/>
                </a:solidFill>
                <a:latin typeface="Inter"/>
                <a:ea typeface="Inter"/>
                <a:cs typeface="Inter"/>
                <a:sym typeface="Inter"/>
              </a:rPr>
              <a:t> là thực thể liên kết, ánh xạ kết quả giữa </a:t>
            </a:r>
            <a:r>
              <a:rPr b="1" lang="en-US" sz="1400">
                <a:solidFill>
                  <a:srgbClr val="F1F5F9"/>
                </a:solidFill>
                <a:latin typeface="Inter"/>
                <a:ea typeface="Inter"/>
                <a:cs typeface="Inter"/>
                <a:sym typeface="Inter"/>
              </a:rPr>
              <a:t>Student</a:t>
            </a:r>
            <a:r>
              <a:rPr b="0" lang="en-US" sz="1400">
                <a:solidFill>
                  <a:srgbClr val="94A3B8"/>
                </a:solidFill>
                <a:latin typeface="Inter"/>
                <a:ea typeface="Inter"/>
                <a:cs typeface="Inter"/>
                <a:sym typeface="Inter"/>
              </a:rPr>
              <a:t> và </a:t>
            </a:r>
            <a:r>
              <a:rPr b="1" lang="en-US" sz="1400">
                <a:solidFill>
                  <a:srgbClr val="F1F5F9"/>
                </a:solidFill>
                <a:latin typeface="Inter"/>
                <a:ea typeface="Inter"/>
                <a:cs typeface="Inter"/>
                <a:sym typeface="Inter"/>
              </a:rPr>
              <a:t>Subject</a:t>
            </a:r>
            <a:r>
              <a:rPr b="0" lang="en-US" sz="1400">
                <a:solidFill>
                  <a:srgbClr val="94A3B8"/>
                </a:solidFill>
                <a:latin typeface="Inter"/>
                <a:ea typeface="Inter"/>
                <a:cs typeface="Inter"/>
                <a:sym typeface="Inter"/>
              </a:rPr>
              <a:t>.</a:t>
            </a:r>
            <a:endParaRPr b="0" sz="1400">
              <a:solidFill>
                <a:srgbClr val="94A3B8"/>
              </a:solidFill>
              <a:latin typeface="Inter"/>
              <a:ea typeface="Inter"/>
              <a:cs typeface="Inter"/>
              <a:sym typeface="Inter"/>
            </a:endParaRPr>
          </a:p>
        </p:txBody>
      </p:sp>
      <p:sp>
        <p:nvSpPr>
          <p:cNvPr id="148" name="Google Shape;148;p16"/>
          <p:cNvSpPr txBox="1"/>
          <p:nvPr/>
        </p:nvSpPr>
        <p:spPr>
          <a:xfrm>
            <a:off x="771525" y="581025"/>
            <a:ext cx="54207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Inter"/>
                <a:ea typeface="Inter"/>
                <a:cs typeface="Inter"/>
                <a:sym typeface="Inter"/>
              </a:rPr>
              <a:t>CÂY PHẢ HỆ ĐỐI TƯỢNG</a:t>
            </a:r>
            <a:endParaRPr/>
          </a:p>
        </p:txBody>
      </p:sp>
      <p:sp>
        <p:nvSpPr>
          <p:cNvPr id="149" name="Google Shape;149;p16"/>
          <p:cNvSpPr/>
          <p:nvPr/>
        </p:nvSpPr>
        <p:spPr>
          <a:xfrm>
            <a:off x="581025" y="581025"/>
            <a:ext cx="47700" cy="4857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3" name="Shape 153"/>
        <p:cNvGrpSpPr/>
        <p:nvPr/>
      </p:nvGrpSpPr>
      <p:grpSpPr>
        <a:xfrm>
          <a:off x="0" y="0"/>
          <a:ext cx="0" cy="0"/>
          <a:chOff x="0" y="0"/>
          <a:chExt cx="0" cy="0"/>
        </a:xfrm>
      </p:grpSpPr>
      <p:sp>
        <p:nvSpPr>
          <p:cNvPr id="154" name="Google Shape;154;p17"/>
          <p:cNvSpPr txBox="1"/>
          <p:nvPr/>
        </p:nvSpPr>
        <p:spPr>
          <a:xfrm>
            <a:off x="771525" y="571500"/>
            <a:ext cx="76200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3200">
                <a:solidFill>
                  <a:srgbClr val="38BDF8"/>
                </a:solidFill>
                <a:latin typeface="Inter"/>
                <a:ea typeface="Inter"/>
                <a:cs typeface="Inter"/>
                <a:sym typeface="Inter"/>
              </a:rPr>
              <a:t>MÔ-ĐUN 2: VIEW (UI LAYER)</a:t>
            </a:r>
            <a:endParaRPr b="1" sz="3200">
              <a:solidFill>
                <a:srgbClr val="38BDF8"/>
              </a:solidFill>
              <a:latin typeface="Inter"/>
              <a:ea typeface="Inter"/>
              <a:cs typeface="Inter"/>
              <a:sym typeface="Inter"/>
            </a:endParaRPr>
          </a:p>
        </p:txBody>
      </p:sp>
      <p:sp>
        <p:nvSpPr>
          <p:cNvPr id="155" name="Google Shape;155;p17"/>
          <p:cNvSpPr/>
          <p:nvPr/>
        </p:nvSpPr>
        <p:spPr>
          <a:xfrm>
            <a:off x="581025" y="619125"/>
            <a:ext cx="47700" cy="476400"/>
          </a:xfrm>
          <a:prstGeom prst="rect">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6" name="Google Shape;156;p17"/>
          <p:cNvGrpSpPr/>
          <p:nvPr/>
        </p:nvGrpSpPr>
        <p:grpSpPr>
          <a:xfrm>
            <a:off x="571500" y="1524000"/>
            <a:ext cx="5143500" cy="4000500"/>
            <a:chOff x="571500" y="1524000"/>
            <a:chExt cx="5143500" cy="4000500"/>
          </a:xfrm>
        </p:grpSpPr>
        <p:sp>
          <p:nvSpPr>
            <p:cNvPr id="157" name="Google Shape;157;p17"/>
            <p:cNvSpPr/>
            <p:nvPr/>
          </p:nvSpPr>
          <p:spPr>
            <a:xfrm>
              <a:off x="571500" y="1524000"/>
              <a:ext cx="5143500" cy="4000500"/>
            </a:xfrm>
            <a:prstGeom prst="roundRect">
              <a:avLst>
                <a:gd fmla="val 3809" name="adj"/>
              </a:avLst>
            </a:prstGeom>
            <a:solidFill>
              <a:srgbClr val="1E293B"/>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7"/>
            <p:cNvSpPr txBox="1"/>
            <p:nvPr/>
          </p:nvSpPr>
          <p:spPr>
            <a:xfrm>
              <a:off x="857250" y="1809750"/>
              <a:ext cx="45720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38BDF8"/>
                  </a:solidFill>
                  <a:latin typeface="Inter"/>
                  <a:ea typeface="Inter"/>
                  <a:cs typeface="Inter"/>
                  <a:sym typeface="Inter"/>
                </a:rPr>
                <a:t>Nhiệm vụ chính</a:t>
              </a:r>
              <a:endParaRPr b="1" sz="1800">
                <a:solidFill>
                  <a:srgbClr val="38BDF8"/>
                </a:solidFill>
                <a:latin typeface="Inter"/>
                <a:ea typeface="Inter"/>
                <a:cs typeface="Inter"/>
                <a:sym typeface="Inter"/>
              </a:endParaRPr>
            </a:p>
            <a:p>
              <a:pPr indent="0" lvl="0" marL="0" rtl="0" algn="l">
                <a:spcBef>
                  <a:spcPts val="1500"/>
                </a:spcBef>
                <a:spcAft>
                  <a:spcPts val="0"/>
                </a:spcAft>
                <a:buNone/>
              </a:pPr>
              <a:r>
                <a:rPr b="0" lang="en-US" sz="1400">
                  <a:solidFill>
                    <a:srgbClr val="CBD5E1"/>
                  </a:solidFill>
                  <a:latin typeface="Inter"/>
                  <a:ea typeface="Inter"/>
                  <a:cs typeface="Inter"/>
                  <a:sym typeface="Inter"/>
                </a:rPr>
                <a:t>Hiển thị và thu thập dữ liệu thô từ bàn phím.</a:t>
              </a:r>
              <a:endParaRPr b="0" sz="1400">
                <a:solidFill>
                  <a:srgbClr val="CBD5E1"/>
                </a:solidFill>
                <a:latin typeface="Inter"/>
                <a:ea typeface="Inter"/>
                <a:cs typeface="Inter"/>
                <a:sym typeface="Inter"/>
              </a:endParaRPr>
            </a:p>
            <a:p>
              <a:pPr indent="-311150" lvl="0" marL="457200" rtl="0" algn="l">
                <a:spcBef>
                  <a:spcPts val="1875"/>
                </a:spcBef>
                <a:spcAft>
                  <a:spcPts val="0"/>
                </a:spcAft>
                <a:buClr>
                  <a:srgbClr val="94A3B8"/>
                </a:buClr>
                <a:buSzPts val="1300"/>
                <a:buFont typeface="Inter"/>
                <a:buChar char="●"/>
              </a:pPr>
              <a:r>
                <a:rPr lang="en-US" sz="1300">
                  <a:solidFill>
                    <a:srgbClr val="94A3B8"/>
                  </a:solidFill>
                  <a:latin typeface="Inter"/>
                  <a:ea typeface="Inter"/>
                  <a:cs typeface="Inter"/>
                  <a:sym typeface="Inter"/>
                </a:rPr>
                <a:t>Không chứa logic kiểm tra hay tính toán phức tạp.</a:t>
              </a:r>
              <a:endParaRPr sz="1300">
                <a:solidFill>
                  <a:srgbClr val="94A3B8"/>
                </a:solidFill>
                <a:latin typeface="Inter"/>
                <a:ea typeface="Inter"/>
                <a:cs typeface="Inter"/>
                <a:sym typeface="Inter"/>
              </a:endParaRPr>
            </a:p>
            <a:p>
              <a:pPr indent="-311150" lvl="0" marL="457200" rtl="0" algn="l">
                <a:spcBef>
                  <a:spcPts val="1125"/>
                </a:spcBef>
                <a:spcAft>
                  <a:spcPts val="0"/>
                </a:spcAft>
                <a:buClr>
                  <a:srgbClr val="94A3B8"/>
                </a:buClr>
                <a:buSzPts val="1300"/>
                <a:buFont typeface="Inter"/>
                <a:buChar char="●"/>
              </a:pPr>
              <a:r>
                <a:rPr lang="en-US" sz="1300">
                  <a:solidFill>
                    <a:srgbClr val="94A3B8"/>
                  </a:solidFill>
                  <a:latin typeface="Inter"/>
                  <a:ea typeface="Inter"/>
                  <a:cs typeface="Inter"/>
                  <a:sym typeface="Inter"/>
                </a:rPr>
                <a:t>Sử dụng </a:t>
              </a:r>
              <a:r>
                <a:rPr b="0" lang="en-US" sz="1300">
                  <a:solidFill>
                    <a:srgbClr val="38BDF8"/>
                  </a:solidFill>
                  <a:latin typeface="Inter SemiBold"/>
                  <a:ea typeface="Inter SemiBold"/>
                  <a:cs typeface="Inter SemiBold"/>
                  <a:sym typeface="Inter SemiBold"/>
                </a:rPr>
                <a:t>CheckInput</a:t>
              </a:r>
              <a:r>
                <a:rPr lang="en-US" sz="1300">
                  <a:solidFill>
                    <a:srgbClr val="94A3B8"/>
                  </a:solidFill>
                  <a:latin typeface="Inter"/>
                  <a:ea typeface="Inter"/>
                  <a:cs typeface="Inter"/>
                  <a:sym typeface="Inter"/>
                </a:rPr>
                <a:t> để chuẩn hóa định dạng nhập liệu.</a:t>
              </a:r>
              <a:endParaRPr sz="1300">
                <a:solidFill>
                  <a:srgbClr val="94A3B8"/>
                </a:solidFill>
                <a:latin typeface="Inter"/>
                <a:ea typeface="Inter"/>
                <a:cs typeface="Inter"/>
                <a:sym typeface="Inter"/>
              </a:endParaRPr>
            </a:p>
            <a:p>
              <a:pPr indent="-311150" lvl="0" marL="457200" rtl="0" algn="l">
                <a:spcBef>
                  <a:spcPts val="1125"/>
                </a:spcBef>
                <a:spcAft>
                  <a:spcPts val="1125"/>
                </a:spcAft>
                <a:buClr>
                  <a:srgbClr val="94A3B8"/>
                </a:buClr>
                <a:buSzPts val="1300"/>
                <a:buFont typeface="Inter"/>
                <a:buChar char="●"/>
              </a:pPr>
              <a:r>
                <a:rPr lang="en-US" sz="1300">
                  <a:solidFill>
                    <a:srgbClr val="94A3B8"/>
                  </a:solidFill>
                  <a:latin typeface="Inter"/>
                  <a:ea typeface="Inter"/>
                  <a:cs typeface="Inter"/>
                  <a:sym typeface="Inter"/>
                </a:rPr>
                <a:t>Tương tác trực tiếp với người dùng qua Console interface.</a:t>
              </a:r>
              <a:endParaRPr sz="1300">
                <a:solidFill>
                  <a:srgbClr val="94A3B8"/>
                </a:solidFill>
                <a:latin typeface="Inter"/>
                <a:ea typeface="Inter"/>
                <a:cs typeface="Inter"/>
                <a:sym typeface="Inter"/>
              </a:endParaRPr>
            </a:p>
          </p:txBody>
        </p:sp>
      </p:grpSp>
      <p:grpSp>
        <p:nvGrpSpPr>
          <p:cNvPr id="159" name="Google Shape;159;p17"/>
          <p:cNvGrpSpPr/>
          <p:nvPr/>
        </p:nvGrpSpPr>
        <p:grpSpPr>
          <a:xfrm>
            <a:off x="6286500" y="1524000"/>
            <a:ext cx="5334000" cy="4000500"/>
            <a:chOff x="6286500" y="1524000"/>
            <a:chExt cx="5334000" cy="4000500"/>
          </a:xfrm>
        </p:grpSpPr>
        <p:pic>
          <p:nvPicPr>
            <p:cNvPr descr="A futuristic, high-tech computer terminal interface display with glowing blue code and data input fields, minimalist dark UI design, 3D isometric perspective, professional software architecture illustration." id="160" name="Google Shape;160;p17"/>
            <p:cNvPicPr preferRelativeResize="0"/>
            <p:nvPr/>
          </p:nvPicPr>
          <p:blipFill rotWithShape="1">
            <a:blip r:embed="rId3">
              <a:alphaModFix/>
            </a:blip>
            <a:srcRect b="0" l="0" r="0" t="0"/>
            <a:stretch/>
          </p:blipFill>
          <p:spPr>
            <a:xfrm>
              <a:off x="6286500" y="1524000"/>
              <a:ext cx="5334000" cy="4000500"/>
            </a:xfrm>
            <a:prstGeom prst="roundRect">
              <a:avLst>
                <a:gd fmla="val 3809" name="adj"/>
              </a:avLst>
            </a:prstGeom>
            <a:noFill/>
            <a:ln>
              <a:noFill/>
            </a:ln>
          </p:spPr>
        </p:pic>
        <p:sp>
          <p:nvSpPr>
            <p:cNvPr id="161" name="Google Shape;161;p17"/>
            <p:cNvSpPr/>
            <p:nvPr/>
          </p:nvSpPr>
          <p:spPr>
            <a:xfrm>
              <a:off x="6286500" y="1524000"/>
              <a:ext cx="5334000" cy="4000500"/>
            </a:xfrm>
            <a:prstGeom prst="roundRect">
              <a:avLst>
                <a:gd fmla="val 3809" name="adj"/>
              </a:avLst>
            </a:pr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5" name="Shape 165"/>
        <p:cNvGrpSpPr/>
        <p:nvPr/>
      </p:nvGrpSpPr>
      <p:grpSpPr>
        <a:xfrm>
          <a:off x="0" y="0"/>
          <a:ext cx="0" cy="0"/>
          <a:chOff x="0" y="0"/>
          <a:chExt cx="0" cy="0"/>
        </a:xfrm>
      </p:grpSpPr>
      <p:pic>
        <p:nvPicPr>
          <p:cNvPr descr="image.png" id="166" name="Google Shape;166;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7" name="Google Shape;167;p18"/>
          <p:cNvSpPr/>
          <p:nvPr/>
        </p:nvSpPr>
        <p:spPr>
          <a:xfrm>
            <a:off x="581025" y="619125"/>
            <a:ext cx="47700" cy="476400"/>
          </a:xfrm>
          <a:prstGeom prst="rect">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8"/>
          <p:cNvSpPr txBox="1"/>
          <p:nvPr/>
        </p:nvSpPr>
        <p:spPr>
          <a:xfrm>
            <a:off x="771525" y="571500"/>
            <a:ext cx="9525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38BDF8"/>
                </a:solidFill>
                <a:latin typeface="Inter"/>
                <a:ea typeface="Inter"/>
                <a:cs typeface="Inter"/>
                <a:sym typeface="Inter"/>
              </a:rPr>
              <a:t>MÔ-ĐUN 3: CONTROLLER (ORCHESTRATOR)</a:t>
            </a:r>
            <a:endParaRPr b="1" sz="3200">
              <a:solidFill>
                <a:srgbClr val="38BDF8"/>
              </a:solidFill>
              <a:latin typeface="Inter"/>
              <a:ea typeface="Inter"/>
              <a:cs typeface="Inter"/>
              <a:sym typeface="Inter"/>
            </a:endParaRPr>
          </a:p>
        </p:txBody>
      </p:sp>
      <p:grpSp>
        <p:nvGrpSpPr>
          <p:cNvPr id="169" name="Google Shape;169;p18"/>
          <p:cNvGrpSpPr/>
          <p:nvPr/>
        </p:nvGrpSpPr>
        <p:grpSpPr>
          <a:xfrm>
            <a:off x="571500" y="1714500"/>
            <a:ext cx="5143500" cy="4000500"/>
            <a:chOff x="571500" y="1714500"/>
            <a:chExt cx="5143500" cy="4000500"/>
          </a:xfrm>
        </p:grpSpPr>
        <p:sp>
          <p:nvSpPr>
            <p:cNvPr id="170" name="Google Shape;170;p18"/>
            <p:cNvSpPr/>
            <p:nvPr/>
          </p:nvSpPr>
          <p:spPr>
            <a:xfrm>
              <a:off x="571500" y="1714500"/>
              <a:ext cx="5143500" cy="4000500"/>
            </a:xfrm>
            <a:prstGeom prst="roundRect">
              <a:avLst>
                <a:gd fmla="val 3809" name="adj"/>
              </a:avLst>
            </a:prstGeom>
            <a:solidFill>
              <a:srgbClr val="1E293B"/>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8"/>
            <p:cNvSpPr txBox="1"/>
            <p:nvPr/>
          </p:nvSpPr>
          <p:spPr>
            <a:xfrm>
              <a:off x="857250" y="2000250"/>
              <a:ext cx="45720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38BDF8"/>
                  </a:solidFill>
                  <a:latin typeface="Inter"/>
                  <a:ea typeface="Inter"/>
                  <a:cs typeface="Inter"/>
                  <a:sym typeface="Inter"/>
                </a:rPr>
                <a:t>Nhiệm vụ chính</a:t>
              </a:r>
              <a:endParaRPr b="1" sz="1800">
                <a:solidFill>
                  <a:srgbClr val="38BDF8"/>
                </a:solidFill>
                <a:latin typeface="Inter"/>
                <a:ea typeface="Inter"/>
                <a:cs typeface="Inter"/>
                <a:sym typeface="Inter"/>
              </a:endParaRPr>
            </a:p>
            <a:p>
              <a:pPr indent="0" lvl="0" marL="0" rtl="0" algn="l">
                <a:spcBef>
                  <a:spcPts val="1500"/>
                </a:spcBef>
                <a:spcAft>
                  <a:spcPts val="0"/>
                </a:spcAft>
                <a:buNone/>
              </a:pPr>
              <a:r>
                <a:rPr b="0" lang="en-US" sz="1400">
                  <a:solidFill>
                    <a:srgbClr val="CBD5E1"/>
                  </a:solidFill>
                  <a:latin typeface="Inter"/>
                  <a:ea typeface="Inter"/>
                  <a:cs typeface="Inter"/>
                  <a:sym typeface="Inter"/>
                </a:rPr>
                <a:t>Điều phối yêu cầu giữa View và Service.</a:t>
              </a:r>
              <a:endParaRPr b="0" sz="1400">
                <a:solidFill>
                  <a:srgbClr val="CBD5E1"/>
                </a:solidFill>
                <a:latin typeface="Inter"/>
                <a:ea typeface="Inter"/>
                <a:cs typeface="Inter"/>
                <a:sym typeface="Inter"/>
              </a:endParaRPr>
            </a:p>
            <a:p>
              <a:pPr indent="0" lvl="0" marL="0" rtl="0" algn="l">
                <a:spcBef>
                  <a:spcPts val="2000"/>
                </a:spcBef>
                <a:spcAft>
                  <a:spcPts val="0"/>
                </a:spcAft>
                <a:buNone/>
              </a:pPr>
              <a:r>
                <a:rPr lang="en-US" sz="13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Tiếp nhận lệnh từ View.</a:t>
              </a:r>
              <a:endParaRPr>
                <a:latin typeface="Inter"/>
                <a:ea typeface="Inter"/>
                <a:cs typeface="Inter"/>
                <a:sym typeface="Inter"/>
              </a:endParaRPr>
            </a:p>
            <a:p>
              <a:pPr indent="0" lvl="0" marL="0" rtl="0" algn="l">
                <a:spcBef>
                  <a:spcPts val="1500"/>
                </a:spcBef>
                <a:spcAft>
                  <a:spcPts val="0"/>
                </a:spcAft>
                <a:buNone/>
              </a:pPr>
              <a:r>
                <a:rPr lang="en-US" sz="13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Gọi hàm nghiệp vụ từ Service.</a:t>
              </a:r>
              <a:endParaRPr>
                <a:latin typeface="Inter"/>
                <a:ea typeface="Inter"/>
                <a:cs typeface="Inter"/>
                <a:sym typeface="Inter"/>
              </a:endParaRPr>
            </a:p>
            <a:p>
              <a:pPr indent="0" lvl="0" marL="0" rtl="0" algn="l">
                <a:spcBef>
                  <a:spcPts val="1500"/>
                </a:spcBef>
                <a:spcAft>
                  <a:spcPts val="0"/>
                </a:spcAft>
                <a:buNone/>
              </a:pPr>
              <a:r>
                <a:rPr lang="en-US" sz="13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Phản hồi trạng thái xử lý cho View để hiển thị thông báo.</a:t>
              </a:r>
              <a:endParaRPr>
                <a:latin typeface="Inter"/>
                <a:ea typeface="Inter"/>
                <a:cs typeface="Inter"/>
                <a:sym typeface="Inter"/>
              </a:endParaRPr>
            </a:p>
          </p:txBody>
        </p:sp>
      </p:grpSp>
      <p:grpSp>
        <p:nvGrpSpPr>
          <p:cNvPr id="172" name="Google Shape;172;p18"/>
          <p:cNvGrpSpPr/>
          <p:nvPr/>
        </p:nvGrpSpPr>
        <p:grpSpPr>
          <a:xfrm>
            <a:off x="6286500" y="1714500"/>
            <a:ext cx="5334000" cy="4000500"/>
            <a:chOff x="6286500" y="1714500"/>
            <a:chExt cx="5334000" cy="4000500"/>
          </a:xfrm>
        </p:grpSpPr>
        <p:pic>
          <p:nvPicPr>
            <p:cNvPr descr="A futuristic, high-tech digital node acting as a central hub or orchestrator, glowing blue lines connecting various data spheres, minimalist software architecture concept, dark blue background, isometric perspective, professional UI design style." id="173" name="Google Shape;173;p18"/>
            <p:cNvPicPr preferRelativeResize="0"/>
            <p:nvPr/>
          </p:nvPicPr>
          <p:blipFill rotWithShape="1">
            <a:blip r:embed="rId4">
              <a:alphaModFix/>
            </a:blip>
            <a:srcRect b="0" l="0" r="0" t="0"/>
            <a:stretch/>
          </p:blipFill>
          <p:spPr>
            <a:xfrm>
              <a:off x="6286500" y="1714500"/>
              <a:ext cx="5334000" cy="4000500"/>
            </a:xfrm>
            <a:prstGeom prst="roundRect">
              <a:avLst>
                <a:gd fmla="val 3809" name="adj"/>
              </a:avLst>
            </a:prstGeom>
            <a:noFill/>
            <a:ln>
              <a:noFill/>
            </a:ln>
          </p:spPr>
        </p:pic>
        <p:sp>
          <p:nvSpPr>
            <p:cNvPr id="174" name="Google Shape;174;p18"/>
            <p:cNvSpPr/>
            <p:nvPr/>
          </p:nvSpPr>
          <p:spPr>
            <a:xfrm>
              <a:off x="6286500" y="1714500"/>
              <a:ext cx="5334000" cy="4000500"/>
            </a:xfrm>
            <a:prstGeom prst="roundRect">
              <a:avLst>
                <a:gd fmla="val 3809" name="adj"/>
              </a:avLst>
            </a:pr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8" name="Shape 178"/>
        <p:cNvGrpSpPr/>
        <p:nvPr/>
      </p:nvGrpSpPr>
      <p:grpSpPr>
        <a:xfrm>
          <a:off x="0" y="0"/>
          <a:ext cx="0" cy="0"/>
          <a:chOff x="0" y="0"/>
          <a:chExt cx="0" cy="0"/>
        </a:xfrm>
      </p:grpSpPr>
      <p:pic>
        <p:nvPicPr>
          <p:cNvPr descr="image.png" id="179" name="Google Shape;179;p19"/>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80" name="Google Shape;180;p19"/>
          <p:cNvGrpSpPr/>
          <p:nvPr/>
        </p:nvGrpSpPr>
        <p:grpSpPr>
          <a:xfrm>
            <a:off x="571500" y="1714500"/>
            <a:ext cx="5143500" cy="4000500"/>
            <a:chOff x="571500" y="1714500"/>
            <a:chExt cx="5143500" cy="4000500"/>
          </a:xfrm>
        </p:grpSpPr>
        <p:sp>
          <p:nvSpPr>
            <p:cNvPr id="181" name="Google Shape;181;p19"/>
            <p:cNvSpPr/>
            <p:nvPr/>
          </p:nvSpPr>
          <p:spPr>
            <a:xfrm>
              <a:off x="571500" y="1714500"/>
              <a:ext cx="5143500" cy="4000500"/>
            </a:xfrm>
            <a:prstGeom prst="roundRect">
              <a:avLst>
                <a:gd fmla="val 3809" name="adj"/>
              </a:avLst>
            </a:prstGeom>
            <a:solidFill>
              <a:srgbClr val="1E293B"/>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9"/>
            <p:cNvSpPr txBox="1"/>
            <p:nvPr/>
          </p:nvSpPr>
          <p:spPr>
            <a:xfrm>
              <a:off x="857250" y="2000250"/>
              <a:ext cx="45720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38BDF8"/>
                  </a:solidFill>
                  <a:latin typeface="Inter"/>
                  <a:ea typeface="Inter"/>
                  <a:cs typeface="Inter"/>
                  <a:sym typeface="Inter"/>
                </a:rPr>
                <a:t>Nhiệm vụ chính</a:t>
              </a:r>
              <a:endParaRPr b="1" sz="1800">
                <a:solidFill>
                  <a:srgbClr val="38BDF8"/>
                </a:solidFill>
                <a:latin typeface="Inter"/>
                <a:ea typeface="Inter"/>
                <a:cs typeface="Inter"/>
                <a:sym typeface="Inter"/>
              </a:endParaRPr>
            </a:p>
            <a:p>
              <a:pPr indent="0" lvl="0" marL="0" rtl="0" algn="l">
                <a:spcBef>
                  <a:spcPts val="1500"/>
                </a:spcBef>
                <a:spcAft>
                  <a:spcPts val="0"/>
                </a:spcAft>
                <a:buNone/>
              </a:pPr>
              <a:r>
                <a:rPr b="0" lang="en-US" sz="1400">
                  <a:solidFill>
                    <a:srgbClr val="CBD5E1"/>
                  </a:solidFill>
                  <a:latin typeface="Inter"/>
                  <a:ea typeface="Inter"/>
                  <a:cs typeface="Inter"/>
                  <a:sym typeface="Inter"/>
                </a:rPr>
                <a:t>Xử lý quy tắc nghiệp vụ "xương sống".</a:t>
              </a:r>
              <a:endParaRPr b="0" sz="1400">
                <a:solidFill>
                  <a:srgbClr val="CBD5E1"/>
                </a:solidFill>
                <a:latin typeface="Inter"/>
                <a:ea typeface="Inter"/>
                <a:cs typeface="Inter"/>
                <a:sym typeface="Inter"/>
              </a:endParaRPr>
            </a:p>
            <a:p>
              <a:pPr indent="0" lvl="0" marL="0" rtl="0" algn="l">
                <a:spcBef>
                  <a:spcPts val="2000"/>
                </a:spcBef>
                <a:spcAft>
                  <a:spcPts val="0"/>
                </a:spcAft>
                <a:buNone/>
              </a:pPr>
              <a:r>
                <a:rPr lang="en-US" sz="13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Kiểm tra dữ liệu hợp lệ (ID có tồn tại không?).</a:t>
              </a:r>
              <a:endParaRPr>
                <a:latin typeface="Inter"/>
                <a:ea typeface="Inter"/>
                <a:cs typeface="Inter"/>
                <a:sym typeface="Inter"/>
              </a:endParaRPr>
            </a:p>
            <a:p>
              <a:pPr indent="0" lvl="0" marL="0" rtl="0" algn="l">
                <a:spcBef>
                  <a:spcPts val="1500"/>
                </a:spcBef>
                <a:spcAft>
                  <a:spcPts val="0"/>
                </a:spcAft>
                <a:buNone/>
              </a:pPr>
              <a:r>
                <a:rPr lang="en-US" sz="13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Thực hiện các tính toán (Trung bình cộng, xếp loại).</a:t>
              </a:r>
              <a:endParaRPr>
                <a:latin typeface="Inter"/>
                <a:ea typeface="Inter"/>
                <a:cs typeface="Inter"/>
                <a:sym typeface="Inter"/>
              </a:endParaRPr>
            </a:p>
            <a:p>
              <a:pPr indent="0" lvl="0" marL="0" rtl="0" algn="l">
                <a:spcBef>
                  <a:spcPts val="1500"/>
                </a:spcBef>
                <a:spcAft>
                  <a:spcPts val="0"/>
                </a:spcAft>
                <a:buNone/>
              </a:pPr>
              <a:r>
                <a:rPr lang="en-US" sz="13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Sử dụng Interface IService để đảm bảo tính đóng gói và đa hình.</a:t>
              </a:r>
              <a:endParaRPr>
                <a:latin typeface="Inter"/>
                <a:ea typeface="Inter"/>
                <a:cs typeface="Inter"/>
                <a:sym typeface="Inter"/>
              </a:endParaRPr>
            </a:p>
          </p:txBody>
        </p:sp>
      </p:grpSp>
      <p:grpSp>
        <p:nvGrpSpPr>
          <p:cNvPr id="183" name="Google Shape;183;p19"/>
          <p:cNvGrpSpPr/>
          <p:nvPr/>
        </p:nvGrpSpPr>
        <p:grpSpPr>
          <a:xfrm>
            <a:off x="6286500" y="1714500"/>
            <a:ext cx="5334000" cy="4000500"/>
            <a:chOff x="6286500" y="1714500"/>
            <a:chExt cx="5334000" cy="4000500"/>
          </a:xfrm>
        </p:grpSpPr>
        <p:pic>
          <p:nvPicPr>
            <p:cNvPr descr="A high-tech, futuristic visualization of complex business logic processing, showing glowing golden gears integrated with blue circuit lines and digital data streams, minimalist dark software architecture style, 3D isometric perspective, professional UI design." id="184" name="Google Shape;184;p19"/>
            <p:cNvPicPr preferRelativeResize="0"/>
            <p:nvPr/>
          </p:nvPicPr>
          <p:blipFill rotWithShape="1">
            <a:blip r:embed="rId4">
              <a:alphaModFix/>
            </a:blip>
            <a:srcRect b="0" l="0" r="0" t="0"/>
            <a:stretch/>
          </p:blipFill>
          <p:spPr>
            <a:xfrm>
              <a:off x="6286500" y="1714500"/>
              <a:ext cx="5334000" cy="4000500"/>
            </a:xfrm>
            <a:prstGeom prst="roundRect">
              <a:avLst>
                <a:gd fmla="val 3809" name="adj"/>
              </a:avLst>
            </a:prstGeom>
            <a:noFill/>
            <a:ln>
              <a:noFill/>
            </a:ln>
          </p:spPr>
        </p:pic>
        <p:sp>
          <p:nvSpPr>
            <p:cNvPr id="185" name="Google Shape;185;p19"/>
            <p:cNvSpPr/>
            <p:nvPr/>
          </p:nvSpPr>
          <p:spPr>
            <a:xfrm>
              <a:off x="6286500" y="1714500"/>
              <a:ext cx="5334000" cy="4000500"/>
            </a:xfrm>
            <a:prstGeom prst="roundRect">
              <a:avLst>
                <a:gd fmla="val 3809" name="adj"/>
              </a:avLst>
            </a:pr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6" name="Google Shape;186;p19"/>
          <p:cNvSpPr txBox="1"/>
          <p:nvPr/>
        </p:nvSpPr>
        <p:spPr>
          <a:xfrm>
            <a:off x="771525" y="571500"/>
            <a:ext cx="95250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3200">
                <a:solidFill>
                  <a:srgbClr val="38BDF8"/>
                </a:solidFill>
                <a:latin typeface="Inter"/>
                <a:ea typeface="Inter"/>
                <a:cs typeface="Inter"/>
                <a:sym typeface="Inter"/>
              </a:rPr>
              <a:t>MÔ-ĐUN 4: SERVICE (BUSINESS LOGIC)</a:t>
            </a:r>
            <a:endParaRPr b="1" i="0" sz="3200">
              <a:solidFill>
                <a:srgbClr val="38BDF8"/>
              </a:solidFill>
              <a:latin typeface="Inter"/>
              <a:ea typeface="Inter"/>
              <a:cs typeface="Inter"/>
              <a:sym typeface="Inter"/>
            </a:endParaRPr>
          </a:p>
        </p:txBody>
      </p:sp>
      <p:sp>
        <p:nvSpPr>
          <p:cNvPr id="187" name="Google Shape;187;p19"/>
          <p:cNvSpPr/>
          <p:nvPr/>
        </p:nvSpPr>
        <p:spPr>
          <a:xfrm>
            <a:off x="581025" y="619125"/>
            <a:ext cx="47700" cy="476400"/>
          </a:xfrm>
          <a:prstGeom prst="rect">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1" name="Shape 191"/>
        <p:cNvGrpSpPr/>
        <p:nvPr/>
      </p:nvGrpSpPr>
      <p:grpSpPr>
        <a:xfrm>
          <a:off x="0" y="0"/>
          <a:ext cx="0" cy="0"/>
          <a:chOff x="0" y="0"/>
          <a:chExt cx="0" cy="0"/>
        </a:xfrm>
      </p:grpSpPr>
      <p:pic>
        <p:nvPicPr>
          <p:cNvPr id="192" name="Google Shape;192;p20"/>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93" name="Google Shape;193;p20"/>
          <p:cNvGrpSpPr/>
          <p:nvPr/>
        </p:nvGrpSpPr>
        <p:grpSpPr>
          <a:xfrm>
            <a:off x="571500" y="1714500"/>
            <a:ext cx="5143500" cy="4000500"/>
            <a:chOff x="571500" y="1714500"/>
            <a:chExt cx="5143500" cy="4000500"/>
          </a:xfrm>
        </p:grpSpPr>
        <p:sp>
          <p:nvSpPr>
            <p:cNvPr id="194" name="Google Shape;194;p20"/>
            <p:cNvSpPr/>
            <p:nvPr/>
          </p:nvSpPr>
          <p:spPr>
            <a:xfrm>
              <a:off x="571500" y="1714500"/>
              <a:ext cx="5143500" cy="4000500"/>
            </a:xfrm>
            <a:prstGeom prst="roundRect">
              <a:avLst>
                <a:gd fmla="val 3809" name="adj"/>
              </a:avLst>
            </a:prstGeom>
            <a:solidFill>
              <a:srgbClr val="1E293B"/>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20"/>
            <p:cNvSpPr txBox="1"/>
            <p:nvPr/>
          </p:nvSpPr>
          <p:spPr>
            <a:xfrm>
              <a:off x="857250" y="2000250"/>
              <a:ext cx="45720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38BDF8"/>
                  </a:solidFill>
                  <a:latin typeface="Inter"/>
                  <a:ea typeface="Inter"/>
                  <a:cs typeface="Inter"/>
                  <a:sym typeface="Inter"/>
                </a:rPr>
                <a:t>Nhiệm vụ chính</a:t>
              </a:r>
              <a:endParaRPr b="1" sz="1800">
                <a:solidFill>
                  <a:srgbClr val="38BDF8"/>
                </a:solidFill>
                <a:latin typeface="Inter"/>
                <a:ea typeface="Inter"/>
                <a:cs typeface="Inter"/>
                <a:sym typeface="Inter"/>
              </a:endParaRPr>
            </a:p>
            <a:p>
              <a:pPr indent="0" lvl="0" marL="0" rtl="0" algn="l">
                <a:spcBef>
                  <a:spcPts val="1500"/>
                </a:spcBef>
                <a:spcAft>
                  <a:spcPts val="0"/>
                </a:spcAft>
                <a:buNone/>
              </a:pPr>
              <a:r>
                <a:rPr b="0" lang="en-US" sz="1400">
                  <a:solidFill>
                    <a:srgbClr val="CBD5E1"/>
                  </a:solidFill>
                  <a:latin typeface="Inter"/>
                  <a:ea typeface="Inter"/>
                  <a:cs typeface="Inter"/>
                  <a:sym typeface="Inter"/>
                </a:rPr>
                <a:t>Quản lý truy xuất tệp tin CSV.</a:t>
              </a:r>
              <a:endParaRPr b="0" sz="1400">
                <a:solidFill>
                  <a:srgbClr val="CBD5E1"/>
                </a:solidFill>
                <a:latin typeface="Inter"/>
                <a:ea typeface="Inter"/>
                <a:cs typeface="Inter"/>
                <a:sym typeface="Inter"/>
              </a:endParaRPr>
            </a:p>
            <a:p>
              <a:pPr indent="0" lvl="0" marL="0" rtl="0" algn="l">
                <a:spcBef>
                  <a:spcPts val="2000"/>
                </a:spcBef>
                <a:spcAft>
                  <a:spcPts val="0"/>
                </a:spcAft>
                <a:buNone/>
              </a:pPr>
              <a:r>
                <a:rPr b="1" lang="en-US" sz="18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Thực thi các lệnh CRUD trực tiếp lên file.</a:t>
              </a:r>
              <a:endParaRPr b="1" sz="1800">
                <a:solidFill>
                  <a:srgbClr val="38BDF8"/>
                </a:solidFill>
                <a:latin typeface="Inter"/>
                <a:ea typeface="Inter"/>
                <a:cs typeface="Inter"/>
                <a:sym typeface="Inter"/>
              </a:endParaRPr>
            </a:p>
            <a:p>
              <a:pPr indent="0" lvl="0" marL="0" rtl="0" algn="l">
                <a:spcBef>
                  <a:spcPts val="1500"/>
                </a:spcBef>
                <a:spcAft>
                  <a:spcPts val="0"/>
                </a:spcAft>
                <a:buNone/>
              </a:pPr>
              <a:r>
                <a:rPr b="1" lang="en-US" sz="18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Duy trì một List trong RAM để tối ưu tốc độ đọc.</a:t>
              </a:r>
              <a:endParaRPr b="1" sz="1800">
                <a:solidFill>
                  <a:srgbClr val="38BDF8"/>
                </a:solidFill>
                <a:latin typeface="Inter"/>
                <a:ea typeface="Inter"/>
                <a:cs typeface="Inter"/>
                <a:sym typeface="Inter"/>
              </a:endParaRPr>
            </a:p>
            <a:p>
              <a:pPr indent="0" lvl="0" marL="0" rtl="0" algn="l">
                <a:spcBef>
                  <a:spcPts val="1500"/>
                </a:spcBef>
                <a:spcAft>
                  <a:spcPts val="0"/>
                </a:spcAft>
                <a:buNone/>
              </a:pPr>
              <a:r>
                <a:rPr b="1" lang="en-US" sz="1800">
                  <a:solidFill>
                    <a:srgbClr val="38BDF8"/>
                  </a:solidFill>
                  <a:latin typeface="Inter"/>
                  <a:ea typeface="Inter"/>
                  <a:cs typeface="Inter"/>
                  <a:sym typeface="Inter"/>
                </a:rPr>
                <a:t>•</a:t>
              </a:r>
              <a:r>
                <a:rPr b="0" lang="en-US" sz="1300">
                  <a:solidFill>
                    <a:srgbClr val="94A3B8"/>
                  </a:solidFill>
                  <a:latin typeface="Inter"/>
                  <a:ea typeface="Inter"/>
                  <a:cs typeface="Inter"/>
                  <a:sym typeface="Inter"/>
                </a:rPr>
                <a:t>Đồng bộ hóa dữ liệu từ RAM xuống ổ cứng khi có thay đổi.</a:t>
              </a:r>
              <a:endParaRPr b="1" sz="1800">
                <a:solidFill>
                  <a:srgbClr val="38BDF8"/>
                </a:solidFill>
                <a:latin typeface="Inter"/>
                <a:ea typeface="Inter"/>
                <a:cs typeface="Inter"/>
                <a:sym typeface="Inter"/>
              </a:endParaRPr>
            </a:p>
          </p:txBody>
        </p:sp>
      </p:grpSp>
      <p:sp>
        <p:nvSpPr>
          <p:cNvPr id="196" name="Google Shape;196;p20"/>
          <p:cNvSpPr/>
          <p:nvPr/>
        </p:nvSpPr>
        <p:spPr>
          <a:xfrm>
            <a:off x="6286500" y="1714500"/>
            <a:ext cx="5334000" cy="4000500"/>
          </a:xfrm>
          <a:prstGeom prst="roundRect">
            <a:avLst>
              <a:gd fmla="val 3809" name="adj"/>
            </a:avLst>
          </a:pr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7" name="Google Shape;197;p20"/>
          <p:cNvGrpSpPr/>
          <p:nvPr/>
        </p:nvGrpSpPr>
        <p:grpSpPr>
          <a:xfrm>
            <a:off x="6286500" y="1714500"/>
            <a:ext cx="5334000" cy="4000500"/>
            <a:chOff x="6286500" y="1714500"/>
            <a:chExt cx="5334000" cy="4000500"/>
          </a:xfrm>
        </p:grpSpPr>
        <p:pic>
          <p:nvPicPr>
            <p:cNvPr descr="A high-tech digital storage vault or database system, glowing blue data lines flowing from a central file icon into a cloud of binary code, representing data persistence and CSV file management, minimalist dark software architecture style, 3D isometric perspective, professional UI design." id="198" name="Google Shape;198;p20"/>
            <p:cNvPicPr preferRelativeResize="0"/>
            <p:nvPr/>
          </p:nvPicPr>
          <p:blipFill rotWithShape="1">
            <a:blip r:embed="rId4">
              <a:alphaModFix/>
            </a:blip>
            <a:srcRect b="0" l="0" r="0" t="0"/>
            <a:stretch/>
          </p:blipFill>
          <p:spPr>
            <a:xfrm>
              <a:off x="6286500" y="1714500"/>
              <a:ext cx="5334000" cy="4000500"/>
            </a:xfrm>
            <a:prstGeom prst="roundRect">
              <a:avLst>
                <a:gd fmla="val 3809" name="adj"/>
              </a:avLst>
            </a:prstGeom>
            <a:noFill/>
            <a:ln>
              <a:noFill/>
            </a:ln>
          </p:spPr>
        </p:pic>
        <p:sp>
          <p:nvSpPr>
            <p:cNvPr id="199" name="Google Shape;199;p20"/>
            <p:cNvSpPr/>
            <p:nvPr/>
          </p:nvSpPr>
          <p:spPr>
            <a:xfrm>
              <a:off x="6286500" y="1714500"/>
              <a:ext cx="5334000" cy="4000500"/>
            </a:xfrm>
            <a:prstGeom prst="roundRect">
              <a:avLst>
                <a:gd fmla="val 3809" name="adj"/>
              </a:avLst>
            </a:prstGeom>
            <a:solidFill>
              <a:srgbClr val="000000">
                <a:alpha val="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00" name="Google Shape;200;p20"/>
          <p:cNvSpPr txBox="1"/>
          <p:nvPr/>
        </p:nvSpPr>
        <p:spPr>
          <a:xfrm>
            <a:off x="771525" y="581025"/>
            <a:ext cx="90711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Inter"/>
                <a:ea typeface="Inter"/>
                <a:cs typeface="Inter"/>
                <a:sym typeface="Inter"/>
              </a:rPr>
              <a:t>MÔ-ĐUN 5: REPOSITORY (PERSISTENCE)</a:t>
            </a:r>
            <a:endParaRPr/>
          </a:p>
        </p:txBody>
      </p:sp>
      <p:sp>
        <p:nvSpPr>
          <p:cNvPr id="201" name="Google Shape;201;p20"/>
          <p:cNvSpPr/>
          <p:nvPr/>
        </p:nvSpPr>
        <p:spPr>
          <a:xfrm>
            <a:off x="581025" y="581025"/>
            <a:ext cx="47700" cy="4857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5" name="Shape 205"/>
        <p:cNvGrpSpPr/>
        <p:nvPr/>
      </p:nvGrpSpPr>
      <p:grpSpPr>
        <a:xfrm>
          <a:off x="0" y="0"/>
          <a:ext cx="0" cy="0"/>
          <a:chOff x="0" y="0"/>
          <a:chExt cx="0" cy="0"/>
        </a:xfrm>
      </p:grpSpPr>
      <p:pic>
        <p:nvPicPr>
          <p:cNvPr descr="image.png" id="206" name="Google Shape;206;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7" name="Google Shape;207;p21"/>
          <p:cNvPicPr preferRelativeResize="0"/>
          <p:nvPr/>
        </p:nvPicPr>
        <p:blipFill rotWithShape="1">
          <a:blip r:embed="rId4">
            <a:alphaModFix/>
          </a:blip>
          <a:srcRect b="0" l="0" r="0" t="0"/>
          <a:stretch/>
        </p:blipFill>
        <p:spPr>
          <a:xfrm>
            <a:off x="581025" y="2895600"/>
            <a:ext cx="3549550" cy="1885950"/>
          </a:xfrm>
          <a:prstGeom prst="rect">
            <a:avLst/>
          </a:prstGeom>
          <a:noFill/>
          <a:ln>
            <a:noFill/>
          </a:ln>
        </p:spPr>
      </p:pic>
      <p:pic>
        <p:nvPicPr>
          <p:cNvPr descr="image.png" id="208" name="Google Shape;208;p21"/>
          <p:cNvPicPr preferRelativeResize="0"/>
          <p:nvPr/>
        </p:nvPicPr>
        <p:blipFill rotWithShape="1">
          <a:blip r:embed="rId5">
            <a:alphaModFix/>
          </a:blip>
          <a:srcRect b="0" l="0" r="0" t="0"/>
          <a:stretch/>
        </p:blipFill>
        <p:spPr>
          <a:xfrm>
            <a:off x="4321075" y="2895600"/>
            <a:ext cx="3549699" cy="1885950"/>
          </a:xfrm>
          <a:prstGeom prst="rect">
            <a:avLst/>
          </a:prstGeom>
          <a:noFill/>
          <a:ln>
            <a:noFill/>
          </a:ln>
        </p:spPr>
      </p:pic>
      <p:pic>
        <p:nvPicPr>
          <p:cNvPr descr="image.png" id="209" name="Google Shape;209;p21"/>
          <p:cNvPicPr preferRelativeResize="0"/>
          <p:nvPr/>
        </p:nvPicPr>
        <p:blipFill rotWithShape="1">
          <a:blip r:embed="rId6">
            <a:alphaModFix/>
          </a:blip>
          <a:srcRect b="0" l="0" r="0" t="0"/>
          <a:stretch/>
        </p:blipFill>
        <p:spPr>
          <a:xfrm>
            <a:off x="8061275" y="2895600"/>
            <a:ext cx="3549550" cy="1885950"/>
          </a:xfrm>
          <a:prstGeom prst="rect">
            <a:avLst/>
          </a:prstGeom>
          <a:noFill/>
          <a:ln>
            <a:noFill/>
          </a:ln>
        </p:spPr>
      </p:pic>
      <p:sp>
        <p:nvSpPr>
          <p:cNvPr id="210" name="Google Shape;210;p21"/>
          <p:cNvSpPr txBox="1"/>
          <p:nvPr/>
        </p:nvSpPr>
        <p:spPr>
          <a:xfrm>
            <a:off x="828675" y="3143250"/>
            <a:ext cx="3206963"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38BDF8"/>
                </a:solidFill>
                <a:latin typeface="Inter"/>
                <a:ea typeface="Inter"/>
                <a:cs typeface="Inter"/>
                <a:sym typeface="Inter"/>
              </a:rPr>
              <a:t>FileHelper</a:t>
            </a:r>
            <a:endParaRPr/>
          </a:p>
        </p:txBody>
      </p:sp>
      <p:sp>
        <p:nvSpPr>
          <p:cNvPr id="211" name="Google Shape;211;p21"/>
          <p:cNvSpPr txBox="1"/>
          <p:nvPr/>
        </p:nvSpPr>
        <p:spPr>
          <a:xfrm>
            <a:off x="828675" y="3590925"/>
            <a:ext cx="3054250"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94A3B8"/>
                </a:solidFill>
                <a:latin typeface="Inter"/>
                <a:ea typeface="Inter"/>
                <a:cs typeface="Inter"/>
                <a:sym typeface="Inter"/>
              </a:rPr>
              <a:t>Cung cấp các hàm tĩnh (Static) để đọc/ghi file văn bản một cách an toàn.</a:t>
            </a:r>
            <a:endParaRPr/>
          </a:p>
        </p:txBody>
      </p:sp>
      <p:sp>
        <p:nvSpPr>
          <p:cNvPr id="212" name="Google Shape;212;p21"/>
          <p:cNvSpPr txBox="1"/>
          <p:nvPr/>
        </p:nvSpPr>
        <p:spPr>
          <a:xfrm>
            <a:off x="4568725" y="3143250"/>
            <a:ext cx="320711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38BDF8"/>
                </a:solidFill>
                <a:latin typeface="Inter"/>
                <a:ea typeface="Inter"/>
                <a:cs typeface="Inter"/>
                <a:sym typeface="Inter"/>
              </a:rPr>
              <a:t>CheckInput</a:t>
            </a:r>
            <a:endParaRPr/>
          </a:p>
        </p:txBody>
      </p:sp>
      <p:sp>
        <p:nvSpPr>
          <p:cNvPr id="213" name="Google Shape;213;p21"/>
          <p:cNvSpPr txBox="1"/>
          <p:nvPr/>
        </p:nvSpPr>
        <p:spPr>
          <a:xfrm>
            <a:off x="4568725" y="3590925"/>
            <a:ext cx="3054399"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94A3B8"/>
                </a:solidFill>
                <a:latin typeface="Inter"/>
                <a:ea typeface="Inter"/>
                <a:cs typeface="Inter"/>
                <a:sym typeface="Inter"/>
              </a:rPr>
              <a:t>Bộ lọc dữ liệu: Check định dạng Email, Số điện thoại, ID, không được để trống.</a:t>
            </a:r>
            <a:endParaRPr/>
          </a:p>
        </p:txBody>
      </p:sp>
      <p:sp>
        <p:nvSpPr>
          <p:cNvPr id="214" name="Google Shape;214;p21"/>
          <p:cNvSpPr txBox="1"/>
          <p:nvPr/>
        </p:nvSpPr>
        <p:spPr>
          <a:xfrm>
            <a:off x="8308925" y="3143250"/>
            <a:ext cx="3206963"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38BDF8"/>
                </a:solidFill>
                <a:latin typeface="Inter"/>
                <a:ea typeface="Inter"/>
                <a:cs typeface="Inter"/>
                <a:sym typeface="Inter"/>
              </a:rPr>
              <a:t>NotFoundException</a:t>
            </a:r>
            <a:endParaRPr/>
          </a:p>
        </p:txBody>
      </p:sp>
      <p:sp>
        <p:nvSpPr>
          <p:cNvPr id="215" name="Google Shape;215;p21"/>
          <p:cNvSpPr txBox="1"/>
          <p:nvPr/>
        </p:nvSpPr>
        <p:spPr>
          <a:xfrm>
            <a:off x="8308925" y="3590925"/>
            <a:ext cx="305425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94A3B8"/>
                </a:solidFill>
                <a:latin typeface="Inter"/>
                <a:ea typeface="Inter"/>
                <a:cs typeface="Inter"/>
                <a:sym typeface="Inter"/>
              </a:rPr>
              <a:t>Ngoại lệ tùy chỉnh để báo lỗi khi không tìm thấy dữ liệu trong tệp CSV.</a:t>
            </a:r>
            <a:endParaRPr/>
          </a:p>
        </p:txBody>
      </p:sp>
      <p:sp>
        <p:nvSpPr>
          <p:cNvPr id="216" name="Google Shape;216;p21"/>
          <p:cNvSpPr txBox="1"/>
          <p:nvPr/>
        </p:nvSpPr>
        <p:spPr>
          <a:xfrm>
            <a:off x="771525" y="581025"/>
            <a:ext cx="74009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Inter"/>
                <a:ea typeface="Inter"/>
                <a:cs typeface="Inter"/>
                <a:sym typeface="Inter"/>
              </a:rPr>
              <a:t>MÔ-ĐUN 6: UTILS (FOUNDATION)</a:t>
            </a:r>
            <a:endParaRPr/>
          </a:p>
        </p:txBody>
      </p:sp>
      <p:sp>
        <p:nvSpPr>
          <p:cNvPr id="217" name="Google Shape;217;p21"/>
          <p:cNvSpPr/>
          <p:nvPr/>
        </p:nvSpPr>
        <p:spPr>
          <a:xfrm>
            <a:off x="581025" y="581025"/>
            <a:ext cx="47625"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1" name="Shape 221"/>
        <p:cNvGrpSpPr/>
        <p:nvPr/>
      </p:nvGrpSpPr>
      <p:grpSpPr>
        <a:xfrm>
          <a:off x="0" y="0"/>
          <a:ext cx="0" cy="0"/>
          <a:chOff x="0" y="0"/>
          <a:chExt cx="0" cy="0"/>
        </a:xfrm>
      </p:grpSpPr>
      <p:grpSp>
        <p:nvGrpSpPr>
          <p:cNvPr id="222" name="Google Shape;222;p22"/>
          <p:cNvGrpSpPr/>
          <p:nvPr/>
        </p:nvGrpSpPr>
        <p:grpSpPr>
          <a:xfrm>
            <a:off x="6096000" y="1524000"/>
            <a:ext cx="5524500" cy="4000500"/>
            <a:chOff x="6096000" y="1524000"/>
            <a:chExt cx="5524500" cy="4000500"/>
          </a:xfrm>
        </p:grpSpPr>
        <p:sp>
          <p:nvSpPr>
            <p:cNvPr id="223" name="Google Shape;223;p22"/>
            <p:cNvSpPr/>
            <p:nvPr/>
          </p:nvSpPr>
          <p:spPr>
            <a:xfrm>
              <a:off x="6096000" y="1524000"/>
              <a:ext cx="5524500" cy="4000500"/>
            </a:xfrm>
            <a:prstGeom prst="roundRect">
              <a:avLst>
                <a:gd fmla="val 4761"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tech conceptual 3D diagram showing a CSV file being transformed into digital code blocks and then into a structured object, glowing neon blue and slate colors, sleek software architecture style, professional dark theme." id="224" name="Google Shape;224;p22"/>
            <p:cNvPicPr preferRelativeResize="0"/>
            <p:nvPr/>
          </p:nvPicPr>
          <p:blipFill rotWithShape="1">
            <a:blip r:embed="rId3">
              <a:alphaModFix/>
            </a:blip>
            <a:srcRect b="0" l="10032" r="10032" t="0"/>
            <a:stretch/>
          </p:blipFill>
          <p:spPr>
            <a:xfrm>
              <a:off x="6286500" y="1714500"/>
              <a:ext cx="5143500" cy="3619500"/>
            </a:xfrm>
            <a:prstGeom prst="roundRect">
              <a:avLst>
                <a:gd fmla="val 3947" name="adj"/>
              </a:avLst>
            </a:prstGeom>
            <a:noFill/>
            <a:ln>
              <a:noFill/>
            </a:ln>
          </p:spPr>
        </p:pic>
      </p:grpSp>
      <p:sp>
        <p:nvSpPr>
          <p:cNvPr id="225" name="Google Shape;225;p22"/>
          <p:cNvSpPr txBox="1"/>
          <p:nvPr/>
        </p:nvSpPr>
        <p:spPr>
          <a:xfrm>
            <a:off x="771525" y="581025"/>
            <a:ext cx="49905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150">
                <a:solidFill>
                  <a:srgbClr val="38BDF8"/>
                </a:solidFill>
                <a:latin typeface="Inter"/>
                <a:ea typeface="Inter"/>
                <a:cs typeface="Inter"/>
                <a:sym typeface="Inter"/>
              </a:rPr>
              <a:t>CƠ CHẾ LƯU TRỮ CSV</a:t>
            </a:r>
            <a:endParaRPr b="1" sz="3150">
              <a:solidFill>
                <a:srgbClr val="38BDF8"/>
              </a:solidFill>
              <a:latin typeface="Inter"/>
              <a:ea typeface="Inter"/>
              <a:cs typeface="Inter"/>
              <a:sym typeface="Inter"/>
            </a:endParaRPr>
          </a:p>
        </p:txBody>
      </p:sp>
      <p:sp>
        <p:nvSpPr>
          <p:cNvPr id="226" name="Google Shape;226;p22"/>
          <p:cNvSpPr/>
          <p:nvPr/>
        </p:nvSpPr>
        <p:spPr>
          <a:xfrm>
            <a:off x="581025" y="581025"/>
            <a:ext cx="47700" cy="4857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2"/>
          <p:cNvSpPr txBox="1"/>
          <p:nvPr/>
        </p:nvSpPr>
        <p:spPr>
          <a:xfrm>
            <a:off x="581025" y="1524000"/>
            <a:ext cx="5143500" cy="815700"/>
          </a:xfrm>
          <a:prstGeom prst="rect">
            <a:avLst/>
          </a:prstGeom>
          <a:solidFill>
            <a:srgbClr val="000000">
              <a:alpha val="0"/>
            </a:srgbClr>
          </a:solidFill>
          <a:ln>
            <a:noFill/>
          </a:ln>
        </p:spPr>
        <p:txBody>
          <a:bodyPr anchorCtr="0" anchor="ctr" bIns="190500" lIns="190500" spcFirstLastPara="1" rIns="190500" wrap="square" tIns="190500">
            <a:spAutoFit/>
          </a:bodyPr>
          <a:lstStyle/>
          <a:p>
            <a:pPr indent="0" lvl="0" marL="0" rtl="0" algn="l">
              <a:spcBef>
                <a:spcPts val="0"/>
              </a:spcBef>
              <a:spcAft>
                <a:spcPts val="0"/>
              </a:spcAft>
              <a:buNone/>
            </a:pPr>
            <a:r>
              <a:rPr b="0" lang="en-US" sz="1400">
                <a:solidFill>
                  <a:srgbClr val="94A3B8"/>
                </a:solidFill>
                <a:highlight>
                  <a:srgbClr val="1E293B"/>
                </a:highlight>
                <a:latin typeface="Inter"/>
                <a:ea typeface="Inter"/>
                <a:cs typeface="Inter"/>
                <a:sym typeface="Inter"/>
              </a:rPr>
              <a:t>Dữ liệu được lưu dưới dạng </a:t>
            </a:r>
            <a:r>
              <a:rPr b="1" lang="en-US" sz="1400">
                <a:solidFill>
                  <a:srgbClr val="F1F5F9"/>
                </a:solidFill>
                <a:highlight>
                  <a:srgbClr val="1E293B"/>
                </a:highlight>
                <a:latin typeface="Inter"/>
                <a:ea typeface="Inter"/>
                <a:cs typeface="Inter"/>
                <a:sym typeface="Inter"/>
              </a:rPr>
              <a:t>Flat File</a:t>
            </a:r>
            <a:r>
              <a:rPr b="0" lang="en-US" sz="1400">
                <a:solidFill>
                  <a:srgbClr val="94A3B8"/>
                </a:solidFill>
                <a:highlight>
                  <a:srgbClr val="1E293B"/>
                </a:highlight>
                <a:latin typeface="Inter"/>
                <a:ea typeface="Inter"/>
                <a:cs typeface="Inter"/>
                <a:sym typeface="Inter"/>
              </a:rPr>
              <a:t> với dấu phẩy ngăn cách. Mỗi dòng tương ứng với một Object.</a:t>
            </a:r>
            <a:endParaRPr b="0" sz="1400">
              <a:solidFill>
                <a:srgbClr val="94A3B8"/>
              </a:solidFill>
              <a:highlight>
                <a:srgbClr val="1E293B"/>
              </a:highlight>
              <a:latin typeface="Inter"/>
              <a:ea typeface="Inter"/>
              <a:cs typeface="Inter"/>
              <a:sym typeface="Inter"/>
            </a:endParaRPr>
          </a:p>
        </p:txBody>
      </p:sp>
      <p:sp>
        <p:nvSpPr>
          <p:cNvPr id="228" name="Google Shape;228;p22"/>
          <p:cNvSpPr txBox="1"/>
          <p:nvPr/>
        </p:nvSpPr>
        <p:spPr>
          <a:xfrm>
            <a:off x="581025" y="2667000"/>
            <a:ext cx="5143500" cy="1077600"/>
          </a:xfrm>
          <a:prstGeom prst="rect">
            <a:avLst/>
          </a:prstGeom>
          <a:solidFill>
            <a:srgbClr val="000000">
              <a:alpha val="0"/>
            </a:srgbClr>
          </a:solidFill>
          <a:ln>
            <a:noFill/>
          </a:ln>
        </p:spPr>
        <p:txBody>
          <a:bodyPr anchorCtr="0" anchor="ctr" bIns="190500" lIns="190500" spcFirstLastPara="1" rIns="190500" wrap="square" tIns="190500">
            <a:spAutoFit/>
          </a:bodyPr>
          <a:lstStyle/>
          <a:p>
            <a:pPr indent="0" lvl="0" marL="0" rtl="0" algn="l">
              <a:spcBef>
                <a:spcPts val="0"/>
              </a:spcBef>
              <a:spcAft>
                <a:spcPts val="0"/>
              </a:spcAft>
              <a:buNone/>
            </a:pPr>
            <a:r>
              <a:rPr b="1" lang="en-US" sz="1200">
                <a:solidFill>
                  <a:srgbClr val="38BDF8"/>
                </a:solidFill>
                <a:highlight>
                  <a:srgbClr val="1E293B"/>
                </a:highlight>
                <a:latin typeface="Inter"/>
                <a:ea typeface="Inter"/>
                <a:cs typeface="Inter"/>
                <a:sym typeface="Inter"/>
              </a:rPr>
              <a:t>01. SERIALIZATION</a:t>
            </a:r>
            <a:endParaRPr b="1" sz="1200">
              <a:solidFill>
                <a:srgbClr val="38BDF8"/>
              </a:solidFill>
              <a:highlight>
                <a:srgbClr val="1E293B"/>
              </a:highlight>
              <a:latin typeface="Inter"/>
              <a:ea typeface="Inter"/>
              <a:cs typeface="Inter"/>
              <a:sym typeface="Inter"/>
            </a:endParaRPr>
          </a:p>
          <a:p>
            <a:pPr indent="0" lvl="0" marL="0" rtl="0" algn="l">
              <a:spcBef>
                <a:spcPts val="600"/>
              </a:spcBef>
              <a:spcAft>
                <a:spcPts val="0"/>
              </a:spcAft>
              <a:buNone/>
            </a:pPr>
            <a:r>
              <a:rPr b="1" lang="en-US" sz="1400">
                <a:solidFill>
                  <a:srgbClr val="F1F5F9"/>
                </a:solidFill>
                <a:highlight>
                  <a:srgbClr val="1E293B"/>
                </a:highlight>
                <a:latin typeface="Inter"/>
                <a:ea typeface="Inter"/>
                <a:cs typeface="Inter"/>
                <a:sym typeface="Inter"/>
              </a:rPr>
              <a:t>Quá trình Serialization: </a:t>
            </a:r>
            <a:r>
              <a:rPr b="0" lang="en-US" sz="1400">
                <a:solidFill>
                  <a:srgbClr val="94A3B8"/>
                </a:solidFill>
                <a:highlight>
                  <a:srgbClr val="1E293B"/>
                </a:highlight>
                <a:latin typeface="Inter"/>
                <a:ea typeface="Inter"/>
                <a:cs typeface="Inter"/>
                <a:sym typeface="Inter"/>
              </a:rPr>
              <a:t>Đối tượng gọi toCSV() để tự biến thành chuỗi String.</a:t>
            </a:r>
            <a:endParaRPr b="1" sz="1400">
              <a:solidFill>
                <a:srgbClr val="F1F5F9"/>
              </a:solidFill>
              <a:highlight>
                <a:srgbClr val="1E293B"/>
              </a:highlight>
              <a:latin typeface="Inter"/>
              <a:ea typeface="Inter"/>
              <a:cs typeface="Inter"/>
              <a:sym typeface="Inter"/>
            </a:endParaRPr>
          </a:p>
        </p:txBody>
      </p:sp>
      <p:sp>
        <p:nvSpPr>
          <p:cNvPr id="229" name="Google Shape;229;p22"/>
          <p:cNvSpPr txBox="1"/>
          <p:nvPr/>
        </p:nvSpPr>
        <p:spPr>
          <a:xfrm>
            <a:off x="581025" y="4095750"/>
            <a:ext cx="5143500" cy="1077600"/>
          </a:xfrm>
          <a:prstGeom prst="rect">
            <a:avLst/>
          </a:prstGeom>
          <a:solidFill>
            <a:srgbClr val="000000">
              <a:alpha val="0"/>
            </a:srgbClr>
          </a:solidFill>
          <a:ln>
            <a:noFill/>
          </a:ln>
        </p:spPr>
        <p:txBody>
          <a:bodyPr anchorCtr="0" anchor="ctr" bIns="190500" lIns="190500" spcFirstLastPara="1" rIns="190500" wrap="square" tIns="190500">
            <a:spAutoFit/>
          </a:bodyPr>
          <a:lstStyle/>
          <a:p>
            <a:pPr indent="0" lvl="0" marL="0" rtl="0" algn="l">
              <a:spcBef>
                <a:spcPts val="0"/>
              </a:spcBef>
              <a:spcAft>
                <a:spcPts val="0"/>
              </a:spcAft>
              <a:buNone/>
            </a:pPr>
            <a:r>
              <a:rPr b="1" lang="en-US" sz="1200">
                <a:solidFill>
                  <a:srgbClr val="38BDF8"/>
                </a:solidFill>
                <a:highlight>
                  <a:srgbClr val="1E293B"/>
                </a:highlight>
                <a:latin typeface="Inter"/>
                <a:ea typeface="Inter"/>
                <a:cs typeface="Inter"/>
                <a:sym typeface="Inter"/>
              </a:rPr>
              <a:t>02. DESERIALIZATION</a:t>
            </a:r>
            <a:endParaRPr b="1" sz="1200">
              <a:solidFill>
                <a:srgbClr val="38BDF8"/>
              </a:solidFill>
              <a:highlight>
                <a:srgbClr val="1E293B"/>
              </a:highlight>
              <a:latin typeface="Inter"/>
              <a:ea typeface="Inter"/>
              <a:cs typeface="Inter"/>
              <a:sym typeface="Inter"/>
            </a:endParaRPr>
          </a:p>
          <a:p>
            <a:pPr indent="0" lvl="0" marL="0" rtl="0" algn="l">
              <a:spcBef>
                <a:spcPts val="600"/>
              </a:spcBef>
              <a:spcAft>
                <a:spcPts val="0"/>
              </a:spcAft>
              <a:buNone/>
            </a:pPr>
            <a:r>
              <a:rPr b="1" lang="en-US" sz="1400">
                <a:solidFill>
                  <a:srgbClr val="F1F5F9"/>
                </a:solidFill>
                <a:highlight>
                  <a:srgbClr val="1E293B"/>
                </a:highlight>
                <a:latin typeface="Inter"/>
                <a:ea typeface="Inter"/>
                <a:cs typeface="Inter"/>
                <a:sym typeface="Inter"/>
              </a:rPr>
              <a:t>Quá trình Deserialization: </a:t>
            </a:r>
            <a:r>
              <a:rPr b="0" lang="en-US" sz="1400">
                <a:solidFill>
                  <a:srgbClr val="94A3B8"/>
                </a:solidFill>
                <a:highlight>
                  <a:srgbClr val="1E293B"/>
                </a:highlight>
                <a:latin typeface="Inter"/>
                <a:ea typeface="Inter"/>
                <a:cs typeface="Inter"/>
                <a:sym typeface="Inter"/>
              </a:rPr>
              <a:t>Repository đọc String, dùng split(",") và gọi Constructor để tái tạo Object.</a:t>
            </a:r>
            <a:endParaRPr b="1" sz="1400">
              <a:solidFill>
                <a:srgbClr val="F1F5F9"/>
              </a:solidFill>
              <a:highlight>
                <a:srgbClr val="1E293B"/>
              </a:highlight>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33" name="Shape 233"/>
        <p:cNvGrpSpPr/>
        <p:nvPr/>
      </p:nvGrpSpPr>
      <p:grpSpPr>
        <a:xfrm>
          <a:off x="0" y="0"/>
          <a:ext cx="0" cy="0"/>
          <a:chOff x="0" y="0"/>
          <a:chExt cx="0" cy="0"/>
        </a:xfrm>
      </p:grpSpPr>
      <p:pic>
        <p:nvPicPr>
          <p:cNvPr descr="image.png" id="234" name="Google Shape;234;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5" name="Google Shape;235;p23"/>
          <p:cNvPicPr preferRelativeResize="0"/>
          <p:nvPr/>
        </p:nvPicPr>
        <p:blipFill rotWithShape="1">
          <a:blip r:embed="rId4">
            <a:alphaModFix/>
          </a:blip>
          <a:srcRect b="0" l="0" r="0" t="0"/>
          <a:stretch/>
        </p:blipFill>
        <p:spPr>
          <a:xfrm>
            <a:off x="6286500" y="1157287"/>
            <a:ext cx="5324475" cy="5362575"/>
          </a:xfrm>
          <a:prstGeom prst="rect">
            <a:avLst/>
          </a:prstGeom>
          <a:noFill/>
          <a:ln>
            <a:noFill/>
          </a:ln>
        </p:spPr>
      </p:pic>
      <p:sp>
        <p:nvSpPr>
          <p:cNvPr id="236" name="Google Shape;236;p23"/>
          <p:cNvSpPr txBox="1"/>
          <p:nvPr/>
        </p:nvSpPr>
        <p:spPr>
          <a:xfrm>
            <a:off x="581025" y="1328737"/>
            <a:ext cx="53244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94A3B8"/>
                </a:solidFill>
                <a:latin typeface="Inter"/>
                <a:ea typeface="Inter"/>
                <a:cs typeface="Inter"/>
                <a:sym typeface="Inter"/>
              </a:rPr>
              <a:t>Hệ thống bảo vệ dữ liệu qua 2 lớp:</a:t>
            </a:r>
            <a:endParaRPr/>
          </a:p>
        </p:txBody>
      </p:sp>
      <p:pic>
        <p:nvPicPr>
          <p:cNvPr descr="image.png" id="237" name="Google Shape;237;p23"/>
          <p:cNvPicPr preferRelativeResize="0"/>
          <p:nvPr/>
        </p:nvPicPr>
        <p:blipFill rotWithShape="1">
          <a:blip r:embed="rId5">
            <a:alphaModFix/>
          </a:blip>
          <a:srcRect b="0" l="0" r="0" t="0"/>
          <a:stretch/>
        </p:blipFill>
        <p:spPr>
          <a:xfrm>
            <a:off x="6296025" y="1166812"/>
            <a:ext cx="5305425" cy="5305425"/>
          </a:xfrm>
          <a:prstGeom prst="rect">
            <a:avLst/>
          </a:prstGeom>
          <a:noFill/>
          <a:ln>
            <a:noFill/>
          </a:ln>
        </p:spPr>
      </p:pic>
      <p:sp>
        <p:nvSpPr>
          <p:cNvPr id="238" name="Google Shape;238;p23"/>
          <p:cNvSpPr txBox="1"/>
          <p:nvPr/>
        </p:nvSpPr>
        <p:spPr>
          <a:xfrm>
            <a:off x="847725" y="1757362"/>
            <a:ext cx="1143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1.</a:t>
            </a:r>
            <a:endParaRPr/>
          </a:p>
        </p:txBody>
      </p:sp>
      <p:sp>
        <p:nvSpPr>
          <p:cNvPr id="239" name="Google Shape;239;p23"/>
          <p:cNvSpPr txBox="1"/>
          <p:nvPr/>
        </p:nvSpPr>
        <p:spPr>
          <a:xfrm>
            <a:off x="962025" y="1757362"/>
            <a:ext cx="4943475" cy="514350"/>
          </a:xfrm>
          <a:prstGeom prst="rect">
            <a:avLst/>
          </a:prstGeom>
          <a:noFill/>
          <a:ln>
            <a:noFill/>
          </a:ln>
        </p:spPr>
        <p:txBody>
          <a:bodyPr anchorCtr="0" anchor="t" bIns="0" lIns="11430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F1F5F9"/>
                </a:solidFill>
                <a:latin typeface="Inter"/>
                <a:ea typeface="Inter"/>
                <a:cs typeface="Inter"/>
                <a:sym typeface="Inter"/>
              </a:rPr>
              <a:t>Lớp View:</a:t>
            </a:r>
            <a:r>
              <a:rPr b="0" i="0" lang="en-US" sz="1350" u="none" cap="none" strike="noStrike">
                <a:solidFill>
                  <a:srgbClr val="94A3B8"/>
                </a:solidFill>
                <a:latin typeface="Inter"/>
                <a:ea typeface="Inter"/>
                <a:cs typeface="Inter"/>
                <a:sym typeface="Inter"/>
              </a:rPr>
              <a:t> CheckInput chặn dữ liệu sai định dạng ngay khi nhập (ví dụ: nhập chữ vào cột tuổi).</a:t>
            </a:r>
            <a:endParaRPr/>
          </a:p>
        </p:txBody>
      </p:sp>
      <p:sp>
        <p:nvSpPr>
          <p:cNvPr id="240" name="Google Shape;240;p23"/>
          <p:cNvSpPr txBox="1"/>
          <p:nvPr/>
        </p:nvSpPr>
        <p:spPr>
          <a:xfrm>
            <a:off x="809625" y="2271712"/>
            <a:ext cx="1524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2.</a:t>
            </a:r>
            <a:endParaRPr/>
          </a:p>
        </p:txBody>
      </p:sp>
      <p:sp>
        <p:nvSpPr>
          <p:cNvPr id="241" name="Google Shape;241;p23"/>
          <p:cNvSpPr txBox="1"/>
          <p:nvPr/>
        </p:nvSpPr>
        <p:spPr>
          <a:xfrm>
            <a:off x="962025" y="2271712"/>
            <a:ext cx="4943475" cy="514350"/>
          </a:xfrm>
          <a:prstGeom prst="rect">
            <a:avLst/>
          </a:prstGeom>
          <a:noFill/>
          <a:ln>
            <a:noFill/>
          </a:ln>
        </p:spPr>
        <p:txBody>
          <a:bodyPr anchorCtr="0" anchor="t" bIns="0" lIns="15240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F1F5F9"/>
                </a:solidFill>
                <a:latin typeface="Inter"/>
                <a:ea typeface="Inter"/>
                <a:cs typeface="Inter"/>
                <a:sym typeface="Inter"/>
              </a:rPr>
              <a:t>Lớp Service:</a:t>
            </a:r>
            <a:r>
              <a:rPr b="0" i="0" lang="en-US" sz="1350" u="none" cap="none" strike="noStrike">
                <a:solidFill>
                  <a:srgbClr val="94A3B8"/>
                </a:solidFill>
                <a:latin typeface="Inter"/>
                <a:ea typeface="Inter"/>
                <a:cs typeface="Inter"/>
                <a:sym typeface="Inter"/>
              </a:rPr>
              <a:t> Kiểm tra logic nghiệp vụ (ví dụ: mã sinh viên đã tồn tại chưa, dù định dạng đúng nhưng vẫn bị từ chối).</a:t>
            </a:r>
            <a:endParaRPr/>
          </a:p>
        </p:txBody>
      </p:sp>
      <p:sp>
        <p:nvSpPr>
          <p:cNvPr id="242" name="Google Shape;242;p23"/>
          <p:cNvSpPr txBox="1"/>
          <p:nvPr/>
        </p:nvSpPr>
        <p:spPr>
          <a:xfrm>
            <a:off x="771525" y="338137"/>
            <a:ext cx="8431053"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Inter"/>
                <a:ea typeface="Inter"/>
                <a:cs typeface="Inter"/>
                <a:sym typeface="Inter"/>
              </a:rPr>
              <a:t>CHIẾN LƯỢC XÁC THỰC (VALIDATION)</a:t>
            </a:r>
            <a:endParaRPr/>
          </a:p>
        </p:txBody>
      </p:sp>
      <p:sp>
        <p:nvSpPr>
          <p:cNvPr id="243" name="Google Shape;243;p23"/>
          <p:cNvSpPr/>
          <p:nvPr/>
        </p:nvSpPr>
        <p:spPr>
          <a:xfrm>
            <a:off x="581025" y="338137"/>
            <a:ext cx="47625"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7" name="Shape 247"/>
        <p:cNvGrpSpPr/>
        <p:nvPr/>
      </p:nvGrpSpPr>
      <p:grpSpPr>
        <a:xfrm>
          <a:off x="0" y="0"/>
          <a:ext cx="0" cy="0"/>
          <a:chOff x="0" y="0"/>
          <a:chExt cx="0" cy="0"/>
        </a:xfrm>
      </p:grpSpPr>
      <p:pic>
        <p:nvPicPr>
          <p:cNvPr descr="image.png" id="248" name="Google Shape;248;p24"/>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249" name="Google Shape;249;p24"/>
          <p:cNvGraphicFramePr/>
          <p:nvPr/>
        </p:nvGraphicFramePr>
        <p:xfrm>
          <a:off x="581025" y="2547937"/>
          <a:ext cx="3000000" cy="3000000"/>
        </p:xfrm>
        <a:graphic>
          <a:graphicData uri="http://schemas.openxmlformats.org/drawingml/2006/table">
            <a:tbl>
              <a:tblPr bandRow="1" firstRow="1">
                <a:noFill/>
                <a:tableStyleId>{E2CC0C25-6EDD-413E-B913-158B84B5DA8C}</a:tableStyleId>
              </a:tblPr>
              <a:tblGrid>
                <a:gridCol w="1170675"/>
                <a:gridCol w="1894725"/>
                <a:gridCol w="7964525"/>
              </a:tblGrid>
              <a:tr h="554350">
                <a:tc>
                  <a:txBody>
                    <a:bodyPr/>
                    <a:lstStyle/>
                    <a:p>
                      <a:pPr indent="0" lvl="0" marL="0" marR="0" rtl="0" algn="l">
                        <a:spcBef>
                          <a:spcPts val="0"/>
                        </a:spcBef>
                        <a:spcAft>
                          <a:spcPts val="0"/>
                        </a:spcAft>
                        <a:buNone/>
                      </a:pPr>
                      <a:r>
                        <a:rPr b="1" i="0" lang="en-US" sz="1350" u="none" cap="none" strike="noStrike">
                          <a:solidFill>
                            <a:srgbClr val="94A3B8"/>
                          </a:solidFill>
                          <a:latin typeface="Inter"/>
                          <a:ea typeface="Inter"/>
                          <a:cs typeface="Inter"/>
                          <a:sym typeface="Inter"/>
                        </a:rPr>
                        <a:t>Bước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1" i="0" lang="en-US" sz="1350" u="none" cap="none" strike="noStrike">
                          <a:solidFill>
                            <a:srgbClr val="94A3B8"/>
                          </a:solidFill>
                          <a:latin typeface="Inter"/>
                          <a:ea typeface="Inter"/>
                          <a:cs typeface="Inter"/>
                          <a:sym typeface="Inter"/>
                        </a:rPr>
                        <a:t>Thực thi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1" i="0" lang="en-US" sz="1350" u="none" cap="none" strike="noStrike">
                          <a:solidFill>
                            <a:srgbClr val="94A3B8"/>
                          </a:solidFill>
                          <a:latin typeface="Inter"/>
                          <a:ea typeface="Inter"/>
                          <a:cs typeface="Inter"/>
                          <a:sym typeface="Inter"/>
                        </a:rPr>
                        <a:t>Hành động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r h="554350">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Main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Gọi hàm loadData() từ Controller.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350">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Service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Yêu cầu Repository nạp tệp CSV.</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350">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Repository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Đọc file qua FileHelper, </a:t>
                      </a:r>
                      <a:r>
                        <a:rPr b="1" i="0" lang="en-US" sz="1350" u="none" cap="none" strike="noStrike">
                          <a:solidFill>
                            <a:srgbClr val="94A3B8"/>
                          </a:solidFill>
                          <a:latin typeface="Inter"/>
                          <a:ea typeface="Inter"/>
                          <a:cs typeface="Inter"/>
                          <a:sym typeface="Inter"/>
                        </a:rPr>
                        <a:t>Skip Header</a:t>
                      </a:r>
                      <a:r>
                        <a:rPr b="0" i="0" lang="en-US" sz="1350" u="none" cap="none" strike="noStrike">
                          <a:solidFill>
                            <a:srgbClr val="94A3B8"/>
                          </a:solidFill>
                          <a:latin typeface="Inter"/>
                          <a:ea typeface="Inter"/>
                          <a:cs typeface="Inter"/>
                          <a:sym typeface="Inter"/>
                        </a:rPr>
                        <a:t>, parse thành Object.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54350">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RAM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Dữ liệu sẵn sàng trong List, View hiển thị menu chính.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50" name="Google Shape;250;p24"/>
          <p:cNvSpPr/>
          <p:nvPr/>
        </p:nvSpPr>
        <p:spPr>
          <a:xfrm>
            <a:off x="581025" y="3081337"/>
            <a:ext cx="1170682"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24"/>
          <p:cNvSpPr/>
          <p:nvPr/>
        </p:nvSpPr>
        <p:spPr>
          <a:xfrm>
            <a:off x="1751707" y="3081337"/>
            <a:ext cx="189473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4"/>
          <p:cNvSpPr/>
          <p:nvPr/>
        </p:nvSpPr>
        <p:spPr>
          <a:xfrm>
            <a:off x="3646437" y="3081337"/>
            <a:ext cx="7964537"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4"/>
          <p:cNvSpPr/>
          <p:nvPr/>
        </p:nvSpPr>
        <p:spPr>
          <a:xfrm>
            <a:off x="581025" y="3648075"/>
            <a:ext cx="1170682"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4"/>
          <p:cNvSpPr/>
          <p:nvPr/>
        </p:nvSpPr>
        <p:spPr>
          <a:xfrm>
            <a:off x="1751707" y="3648075"/>
            <a:ext cx="1894730"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24"/>
          <p:cNvSpPr/>
          <p:nvPr/>
        </p:nvSpPr>
        <p:spPr>
          <a:xfrm>
            <a:off x="3646437" y="3648075"/>
            <a:ext cx="7964537"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24"/>
          <p:cNvSpPr/>
          <p:nvPr/>
        </p:nvSpPr>
        <p:spPr>
          <a:xfrm>
            <a:off x="581025" y="4200525"/>
            <a:ext cx="1170682"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4"/>
          <p:cNvSpPr/>
          <p:nvPr/>
        </p:nvSpPr>
        <p:spPr>
          <a:xfrm>
            <a:off x="1751707" y="4200525"/>
            <a:ext cx="1894730"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24"/>
          <p:cNvSpPr/>
          <p:nvPr/>
        </p:nvSpPr>
        <p:spPr>
          <a:xfrm>
            <a:off x="3646437" y="4200525"/>
            <a:ext cx="7964537"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4"/>
          <p:cNvSpPr/>
          <p:nvPr/>
        </p:nvSpPr>
        <p:spPr>
          <a:xfrm>
            <a:off x="581025" y="4752975"/>
            <a:ext cx="1170682"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4"/>
          <p:cNvSpPr/>
          <p:nvPr/>
        </p:nvSpPr>
        <p:spPr>
          <a:xfrm>
            <a:off x="1751707" y="4752975"/>
            <a:ext cx="1894730"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24"/>
          <p:cNvSpPr/>
          <p:nvPr/>
        </p:nvSpPr>
        <p:spPr>
          <a:xfrm>
            <a:off x="3646437" y="4752975"/>
            <a:ext cx="7964537"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24"/>
          <p:cNvSpPr/>
          <p:nvPr/>
        </p:nvSpPr>
        <p:spPr>
          <a:xfrm>
            <a:off x="581025" y="5305425"/>
            <a:ext cx="1170682"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24"/>
          <p:cNvSpPr/>
          <p:nvPr/>
        </p:nvSpPr>
        <p:spPr>
          <a:xfrm>
            <a:off x="1751707" y="5305425"/>
            <a:ext cx="1894730"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24"/>
          <p:cNvSpPr/>
          <p:nvPr/>
        </p:nvSpPr>
        <p:spPr>
          <a:xfrm>
            <a:off x="3646437" y="5305425"/>
            <a:ext cx="7964537" cy="9525"/>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24"/>
          <p:cNvSpPr txBox="1"/>
          <p:nvPr/>
        </p:nvSpPr>
        <p:spPr>
          <a:xfrm>
            <a:off x="771525" y="581025"/>
            <a:ext cx="668583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Inter"/>
                <a:ea typeface="Inter"/>
                <a:cs typeface="Inter"/>
                <a:sym typeface="Inter"/>
              </a:rPr>
              <a:t>LUỒNG NẠP DỮ LIỆU LẦN ĐẦU</a:t>
            </a:r>
            <a:endParaRPr/>
          </a:p>
        </p:txBody>
      </p:sp>
      <p:sp>
        <p:nvSpPr>
          <p:cNvPr id="266" name="Google Shape;266;p24"/>
          <p:cNvSpPr/>
          <p:nvPr/>
        </p:nvSpPr>
        <p:spPr>
          <a:xfrm>
            <a:off x="581025" y="581025"/>
            <a:ext cx="47625"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0" name="Shape 270"/>
        <p:cNvGrpSpPr/>
        <p:nvPr/>
      </p:nvGrpSpPr>
      <p:grpSpPr>
        <a:xfrm>
          <a:off x="0" y="0"/>
          <a:ext cx="0" cy="0"/>
          <a:chOff x="0" y="0"/>
          <a:chExt cx="0" cy="0"/>
        </a:xfrm>
      </p:grpSpPr>
      <p:pic>
        <p:nvPicPr>
          <p:cNvPr id="271" name="Google Shape;271;p2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272" name="Google Shape;272;p25"/>
          <p:cNvGrpSpPr/>
          <p:nvPr/>
        </p:nvGrpSpPr>
        <p:grpSpPr>
          <a:xfrm>
            <a:off x="581025" y="1714500"/>
            <a:ext cx="11030100" cy="4000500"/>
            <a:chOff x="581025" y="1714500"/>
            <a:chExt cx="11030100" cy="4000500"/>
          </a:xfrm>
        </p:grpSpPr>
        <p:sp>
          <p:nvSpPr>
            <p:cNvPr id="273" name="Google Shape;273;p25"/>
            <p:cNvSpPr/>
            <p:nvPr/>
          </p:nvSpPr>
          <p:spPr>
            <a:xfrm>
              <a:off x="581025" y="1714500"/>
              <a:ext cx="11030100" cy="4000500"/>
            </a:xfrm>
            <a:prstGeom prst="roundRect">
              <a:avLst>
                <a:gd fmla="val 3809"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74" name="Google Shape;274;p25"/>
            <p:cNvCxnSpPr/>
            <p:nvPr/>
          </p:nvCxnSpPr>
          <p:spPr>
            <a:xfrm>
              <a:off x="3143250" y="2000250"/>
              <a:ext cx="0" cy="3429000"/>
            </a:xfrm>
            <a:prstGeom prst="straightConnector1">
              <a:avLst/>
            </a:prstGeom>
            <a:solidFill>
              <a:srgbClr val="FFFFFF"/>
            </a:solidFill>
            <a:ln cap="flat" cmpd="sng" w="19050">
              <a:solidFill>
                <a:srgbClr val="334155"/>
              </a:solidFill>
              <a:prstDash val="solid"/>
              <a:round/>
              <a:headEnd len="sm" w="sm" type="none"/>
              <a:tailEnd len="sm" w="sm" type="none"/>
            </a:ln>
          </p:spPr>
        </p:cxnSp>
      </p:grpSp>
      <p:grpSp>
        <p:nvGrpSpPr>
          <p:cNvPr id="275" name="Google Shape;275;p25"/>
          <p:cNvGrpSpPr/>
          <p:nvPr/>
        </p:nvGrpSpPr>
        <p:grpSpPr>
          <a:xfrm>
            <a:off x="1095375" y="2952750"/>
            <a:ext cx="1524000" cy="1611630"/>
            <a:chOff x="1095375" y="2952750"/>
            <a:chExt cx="1524000" cy="1611630"/>
          </a:xfrm>
        </p:grpSpPr>
        <p:sp>
          <p:nvSpPr>
            <p:cNvPr id="276" name="Google Shape;276;p25"/>
            <p:cNvSpPr/>
            <p:nvPr/>
          </p:nvSpPr>
          <p:spPr>
            <a:xfrm>
              <a:off x="1095375" y="2952750"/>
              <a:ext cx="1524000" cy="1524000"/>
            </a:xfrm>
            <a:prstGeom prst="ellipse">
              <a:avLst/>
            </a:prstGeom>
            <a:solidFill>
              <a:srgbClr val="0F172A"/>
            </a:solidFill>
            <a:ln cap="flat" cmpd="sng" w="381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5"/>
            <p:cNvSpPr txBox="1"/>
            <p:nvPr/>
          </p:nvSpPr>
          <p:spPr>
            <a:xfrm>
              <a:off x="1095375" y="3040380"/>
              <a:ext cx="1524000" cy="15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6000">
                  <a:solidFill>
                    <a:srgbClr val="38BDF8"/>
                  </a:solidFill>
                  <a:latin typeface="Material Icons"/>
                  <a:ea typeface="Material Icons"/>
                  <a:cs typeface="Material Icons"/>
                  <a:sym typeface="Material Icons"/>
                </a:rPr>
                <a:t>account_tree</a:t>
              </a:r>
              <a:endParaRPr sz="6000">
                <a:solidFill>
                  <a:srgbClr val="38BDF8"/>
                </a:solidFill>
                <a:latin typeface="Material Icons"/>
                <a:ea typeface="Material Icons"/>
                <a:cs typeface="Material Icons"/>
                <a:sym typeface="Material Icons"/>
              </a:endParaRPr>
            </a:p>
          </p:txBody>
        </p:sp>
      </p:grpSp>
      <p:grpSp>
        <p:nvGrpSpPr>
          <p:cNvPr id="278" name="Google Shape;278;p25"/>
          <p:cNvGrpSpPr/>
          <p:nvPr/>
        </p:nvGrpSpPr>
        <p:grpSpPr>
          <a:xfrm>
            <a:off x="3524250" y="2000250"/>
            <a:ext cx="7620000" cy="3381375"/>
            <a:chOff x="3524250" y="2000250"/>
            <a:chExt cx="7620000" cy="3381375"/>
          </a:xfrm>
        </p:grpSpPr>
        <p:sp>
          <p:nvSpPr>
            <p:cNvPr id="279" name="Google Shape;279;p25"/>
            <p:cNvSpPr txBox="1"/>
            <p:nvPr/>
          </p:nvSpPr>
          <p:spPr>
            <a:xfrm>
              <a:off x="3524250" y="2000250"/>
              <a:ext cx="762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F8FAFC"/>
                  </a:solidFill>
                  <a:latin typeface="Inter"/>
                  <a:ea typeface="Inter"/>
                  <a:cs typeface="Inter"/>
                  <a:sym typeface="Inter"/>
                </a:rPr>
                <a:t>Tiến trình đồng bộ:</a:t>
              </a:r>
              <a:endParaRPr b="1" sz="2000">
                <a:solidFill>
                  <a:srgbClr val="F8FAFC"/>
                </a:solidFill>
                <a:latin typeface="Inter"/>
                <a:ea typeface="Inter"/>
                <a:cs typeface="Inter"/>
                <a:sym typeface="Inter"/>
              </a:endParaRPr>
            </a:p>
          </p:txBody>
        </p:sp>
        <p:sp>
          <p:nvSpPr>
            <p:cNvPr id="280" name="Google Shape;280;p25"/>
            <p:cNvSpPr txBox="1"/>
            <p:nvPr/>
          </p:nvSpPr>
          <p:spPr>
            <a:xfrm>
              <a:off x="3524250" y="2524125"/>
              <a:ext cx="7620000" cy="2857500"/>
            </a:xfrm>
            <a:prstGeom prst="rect">
              <a:avLst/>
            </a:prstGeom>
            <a:noFill/>
            <a:ln>
              <a:noFill/>
            </a:ln>
          </p:spPr>
          <p:txBody>
            <a:bodyPr anchorCtr="0" anchor="t" bIns="0" lIns="0" spcFirstLastPara="1" rIns="0" wrap="square" tIns="0">
              <a:noAutofit/>
            </a:bodyPr>
            <a:lstStyle/>
            <a:p>
              <a:pPr indent="0" lvl="0" marL="0" marR="142875" rtl="0" algn="l">
                <a:spcBef>
                  <a:spcPts val="0"/>
                </a:spcBef>
                <a:spcAft>
                  <a:spcPts val="0"/>
                </a:spcAft>
                <a:buNone/>
              </a:pPr>
              <a:r>
                <a:rPr lang="en-US" sz="1800">
                  <a:solidFill>
                    <a:srgbClr val="38BDF8"/>
                  </a:solidFill>
                  <a:latin typeface="Material Icons"/>
                  <a:ea typeface="Material Icons"/>
                  <a:cs typeface="Material Icons"/>
                  <a:sym typeface="Material Icons"/>
                </a:rPr>
                <a:t>input</a:t>
              </a:r>
              <a:endParaRPr sz="1800">
                <a:solidFill>
                  <a:srgbClr val="38BDF8"/>
                </a:solidFill>
                <a:latin typeface="Material Icons"/>
                <a:ea typeface="Material Icons"/>
                <a:cs typeface="Material Icons"/>
                <a:sym typeface="Material Icons"/>
              </a:endParaRPr>
            </a:p>
            <a:p>
              <a:pPr indent="0" lvl="0" marL="0" rtl="0" algn="l">
                <a:spcBef>
                  <a:spcPts val="0"/>
                </a:spcBef>
                <a:spcAft>
                  <a:spcPts val="0"/>
                </a:spcAft>
                <a:buNone/>
              </a:pPr>
              <a:r>
                <a:rPr lang="en-US" sz="1600">
                  <a:solidFill>
                    <a:srgbClr val="94A3B8"/>
                  </a:solidFill>
                  <a:latin typeface="Inter"/>
                  <a:ea typeface="Inter"/>
                  <a:cs typeface="Inter"/>
                  <a:sym typeface="Inter"/>
                </a:rPr>
                <a:t>View thu thập thông tin qua CheckInput.</a:t>
              </a:r>
              <a:endParaRPr sz="1600">
                <a:solidFill>
                  <a:srgbClr val="94A3B8"/>
                </a:solidFill>
                <a:latin typeface="Inter"/>
                <a:ea typeface="Inter"/>
                <a:cs typeface="Inter"/>
                <a:sym typeface="Inter"/>
              </a:endParaRPr>
            </a:p>
            <a:p>
              <a:pPr indent="0" lvl="0" marL="0" marR="142875" rtl="0" algn="l">
                <a:spcBef>
                  <a:spcPts val="1500"/>
                </a:spcBef>
                <a:spcAft>
                  <a:spcPts val="0"/>
                </a:spcAft>
                <a:buNone/>
              </a:pPr>
              <a:r>
                <a:rPr lang="en-US" sz="1800">
                  <a:solidFill>
                    <a:srgbClr val="38BDF8"/>
                  </a:solidFill>
                  <a:latin typeface="Material Icons"/>
                  <a:ea typeface="Material Icons"/>
                  <a:cs typeface="Material Icons"/>
                  <a:sym typeface="Material Icons"/>
                </a:rPr>
                <a:t>settings</a:t>
              </a:r>
              <a:endParaRPr sz="1800">
                <a:solidFill>
                  <a:srgbClr val="38BDF8"/>
                </a:solidFill>
                <a:latin typeface="Material Icons"/>
                <a:ea typeface="Material Icons"/>
                <a:cs typeface="Material Icons"/>
                <a:sym typeface="Material Icons"/>
              </a:endParaRPr>
            </a:p>
            <a:p>
              <a:pPr indent="0" lvl="0" marL="0" rtl="0" algn="l">
                <a:spcBef>
                  <a:spcPts val="0"/>
                </a:spcBef>
                <a:spcAft>
                  <a:spcPts val="0"/>
                </a:spcAft>
                <a:buNone/>
              </a:pPr>
              <a:r>
                <a:rPr lang="en-US" sz="1600">
                  <a:solidFill>
                    <a:srgbClr val="94A3B8"/>
                  </a:solidFill>
                  <a:latin typeface="Inter"/>
                  <a:ea typeface="Inter"/>
                  <a:cs typeface="Inter"/>
                  <a:sym typeface="Inter"/>
                </a:rPr>
                <a:t>Controller đóng gói thành Student Entity.</a:t>
              </a:r>
              <a:endParaRPr sz="1600">
                <a:solidFill>
                  <a:srgbClr val="94A3B8"/>
                </a:solidFill>
                <a:latin typeface="Inter"/>
                <a:ea typeface="Inter"/>
                <a:cs typeface="Inter"/>
                <a:sym typeface="Inter"/>
              </a:endParaRPr>
            </a:p>
            <a:p>
              <a:pPr indent="0" lvl="0" marL="0" marR="142875" rtl="0" algn="l">
                <a:spcBef>
                  <a:spcPts val="1500"/>
                </a:spcBef>
                <a:spcAft>
                  <a:spcPts val="0"/>
                </a:spcAft>
                <a:buNone/>
              </a:pPr>
              <a:r>
                <a:rPr lang="en-US" sz="1800">
                  <a:solidFill>
                    <a:srgbClr val="38BDF8"/>
                  </a:solidFill>
                  <a:latin typeface="Material Icons"/>
                  <a:ea typeface="Material Icons"/>
                  <a:cs typeface="Material Icons"/>
                  <a:sym typeface="Material Icons"/>
                </a:rPr>
                <a:t>verified_user</a:t>
              </a:r>
              <a:endParaRPr sz="1800">
                <a:solidFill>
                  <a:srgbClr val="38BDF8"/>
                </a:solidFill>
                <a:latin typeface="Material Icons"/>
                <a:ea typeface="Material Icons"/>
                <a:cs typeface="Material Icons"/>
                <a:sym typeface="Material Icons"/>
              </a:endParaRPr>
            </a:p>
            <a:p>
              <a:pPr indent="0" lvl="0" marL="0" rtl="0" algn="l">
                <a:spcBef>
                  <a:spcPts val="0"/>
                </a:spcBef>
                <a:spcAft>
                  <a:spcPts val="0"/>
                </a:spcAft>
                <a:buNone/>
              </a:pPr>
              <a:r>
                <a:rPr lang="en-US" sz="1600">
                  <a:solidFill>
                    <a:srgbClr val="94A3B8"/>
                  </a:solidFill>
                  <a:latin typeface="Inter"/>
                  <a:ea typeface="Inter"/>
                  <a:cs typeface="Inter"/>
                  <a:sym typeface="Inter"/>
                </a:rPr>
                <a:t>Service check trùng ID.</a:t>
              </a:r>
              <a:endParaRPr sz="1600">
                <a:solidFill>
                  <a:srgbClr val="94A3B8"/>
                </a:solidFill>
                <a:latin typeface="Inter"/>
                <a:ea typeface="Inter"/>
                <a:cs typeface="Inter"/>
                <a:sym typeface="Inter"/>
              </a:endParaRPr>
            </a:p>
            <a:p>
              <a:pPr indent="0" lvl="0" marL="0" marR="142875" rtl="0" algn="l">
                <a:spcBef>
                  <a:spcPts val="1500"/>
                </a:spcBef>
                <a:spcAft>
                  <a:spcPts val="0"/>
                </a:spcAft>
                <a:buNone/>
              </a:pPr>
              <a:r>
                <a:rPr lang="en-US" sz="1800">
                  <a:solidFill>
                    <a:srgbClr val="38BDF8"/>
                  </a:solidFill>
                  <a:latin typeface="Material Icons"/>
                  <a:ea typeface="Material Icons"/>
                  <a:cs typeface="Material Icons"/>
                  <a:sym typeface="Material Icons"/>
                </a:rPr>
                <a:t>save</a:t>
              </a:r>
              <a:endParaRPr sz="1800">
                <a:solidFill>
                  <a:srgbClr val="38BDF8"/>
                </a:solidFill>
                <a:latin typeface="Material Icons"/>
                <a:ea typeface="Material Icons"/>
                <a:cs typeface="Material Icons"/>
                <a:sym typeface="Material Icons"/>
              </a:endParaRPr>
            </a:p>
            <a:p>
              <a:pPr indent="0" lvl="0" marL="0" rtl="0" algn="l">
                <a:spcBef>
                  <a:spcPts val="0"/>
                </a:spcBef>
                <a:spcAft>
                  <a:spcPts val="0"/>
                </a:spcAft>
                <a:buNone/>
              </a:pPr>
              <a:r>
                <a:rPr lang="en-US" sz="1600">
                  <a:solidFill>
                    <a:srgbClr val="94A3B8"/>
                  </a:solidFill>
                  <a:latin typeface="Inter"/>
                  <a:ea typeface="Inter"/>
                  <a:cs typeface="Inter"/>
                  <a:sym typeface="Inter"/>
                </a:rPr>
                <a:t>Repository add vào List &amp; gọi FileHelper lưu file.</a:t>
              </a:r>
              <a:endParaRPr sz="1600">
                <a:solidFill>
                  <a:srgbClr val="94A3B8"/>
                </a:solidFill>
                <a:latin typeface="Inter"/>
                <a:ea typeface="Inter"/>
                <a:cs typeface="Inter"/>
                <a:sym typeface="Inter"/>
              </a:endParaRPr>
            </a:p>
          </p:txBody>
        </p:sp>
      </p:grpSp>
      <p:sp>
        <p:nvSpPr>
          <p:cNvPr id="281" name="Google Shape;281;p25"/>
          <p:cNvSpPr txBox="1"/>
          <p:nvPr/>
        </p:nvSpPr>
        <p:spPr>
          <a:xfrm>
            <a:off x="771525" y="581025"/>
            <a:ext cx="60957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Inter"/>
                <a:ea typeface="Inter"/>
                <a:cs typeface="Inter"/>
                <a:sym typeface="Inter"/>
              </a:rPr>
              <a:t>LUỒNG TẠO MỚI SINH VIÊN</a:t>
            </a:r>
            <a:endParaRPr/>
          </a:p>
        </p:txBody>
      </p:sp>
      <p:sp>
        <p:nvSpPr>
          <p:cNvPr id="282" name="Google Shape;282;p25"/>
          <p:cNvSpPr/>
          <p:nvPr/>
        </p:nvSpPr>
        <p:spPr>
          <a:xfrm>
            <a:off x="581025" y="581025"/>
            <a:ext cx="47700" cy="4857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86" name="Shape 286"/>
        <p:cNvGrpSpPr/>
        <p:nvPr/>
      </p:nvGrpSpPr>
      <p:grpSpPr>
        <a:xfrm>
          <a:off x="0" y="0"/>
          <a:ext cx="0" cy="0"/>
          <a:chOff x="0" y="0"/>
          <a:chExt cx="0" cy="0"/>
        </a:xfrm>
      </p:grpSpPr>
      <p:pic>
        <p:nvPicPr>
          <p:cNvPr descr="image.png" id="287" name="Google Shape;287;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8" name="Google Shape;288;p26"/>
          <p:cNvSpPr txBox="1"/>
          <p:nvPr/>
        </p:nvSpPr>
        <p:spPr>
          <a:xfrm>
            <a:off x="771525" y="581025"/>
            <a:ext cx="60357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Inter"/>
                <a:ea typeface="Inter"/>
                <a:cs typeface="Inter"/>
                <a:sym typeface="Inter"/>
              </a:rPr>
              <a:t>XỬ LÝ NGOẠI LỆ HỆ THỐNG</a:t>
            </a:r>
            <a:endParaRPr/>
          </a:p>
        </p:txBody>
      </p:sp>
      <p:sp>
        <p:nvSpPr>
          <p:cNvPr id="289" name="Google Shape;289;p26"/>
          <p:cNvSpPr/>
          <p:nvPr/>
        </p:nvSpPr>
        <p:spPr>
          <a:xfrm>
            <a:off x="581025" y="581025"/>
            <a:ext cx="47700" cy="4857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90" name="Google Shape;290;p26"/>
          <p:cNvGrpSpPr/>
          <p:nvPr/>
        </p:nvGrpSpPr>
        <p:grpSpPr>
          <a:xfrm>
            <a:off x="581025" y="1333500"/>
            <a:ext cx="11030100" cy="4000500"/>
            <a:chOff x="581025" y="1333500"/>
            <a:chExt cx="11030100" cy="4000500"/>
          </a:xfrm>
        </p:grpSpPr>
        <p:sp>
          <p:nvSpPr>
            <p:cNvPr id="291" name="Google Shape;291;p26"/>
            <p:cNvSpPr/>
            <p:nvPr/>
          </p:nvSpPr>
          <p:spPr>
            <a:xfrm>
              <a:off x="581025" y="1333500"/>
              <a:ext cx="11030100" cy="4000500"/>
            </a:xfrm>
            <a:prstGeom prst="roundRect">
              <a:avLst>
                <a:gd fmla="val 3809" name="adj"/>
              </a:avLst>
            </a:prstGeom>
            <a:solidFill>
              <a:srgbClr val="1E293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2" name="Google Shape;292;p26"/>
            <p:cNvGrpSpPr/>
            <p:nvPr/>
          </p:nvGrpSpPr>
          <p:grpSpPr>
            <a:xfrm>
              <a:off x="1047750" y="2286000"/>
              <a:ext cx="2095500" cy="2095500"/>
              <a:chOff x="1047750" y="2286000"/>
              <a:chExt cx="2095500" cy="2095500"/>
            </a:xfrm>
          </p:grpSpPr>
          <p:sp>
            <p:nvSpPr>
              <p:cNvPr id="293" name="Google Shape;293;p26"/>
              <p:cNvSpPr/>
              <p:nvPr/>
            </p:nvSpPr>
            <p:spPr>
              <a:xfrm>
                <a:off x="1047750" y="2286000"/>
                <a:ext cx="2095500" cy="2095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26"/>
              <p:cNvSpPr txBox="1"/>
              <p:nvPr/>
            </p:nvSpPr>
            <p:spPr>
              <a:xfrm>
                <a:off x="1047750" y="2286000"/>
                <a:ext cx="2095500" cy="2095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000">
                    <a:solidFill>
                      <a:srgbClr val="38BDF8"/>
                    </a:solidFill>
                    <a:latin typeface="Inter"/>
                    <a:ea typeface="Inter"/>
                    <a:cs typeface="Inter"/>
                    <a:sym typeface="Inter"/>
                  </a:rPr>
                  <a:t>!ERR</a:t>
                </a:r>
                <a:endParaRPr b="1" sz="5000">
                  <a:solidFill>
                    <a:srgbClr val="38BDF8"/>
                  </a:solidFill>
                  <a:latin typeface="Inter"/>
                  <a:ea typeface="Inter"/>
                  <a:cs typeface="Inter"/>
                  <a:sym typeface="Inter"/>
                </a:endParaRPr>
              </a:p>
            </p:txBody>
          </p:sp>
        </p:grpSp>
        <p:grpSp>
          <p:nvGrpSpPr>
            <p:cNvPr id="295" name="Google Shape;295;p26"/>
            <p:cNvGrpSpPr/>
            <p:nvPr/>
          </p:nvGrpSpPr>
          <p:grpSpPr>
            <a:xfrm>
              <a:off x="3810000" y="1714500"/>
              <a:ext cx="7143900" cy="3238500"/>
              <a:chOff x="3810000" y="1714500"/>
              <a:chExt cx="7143900" cy="3238500"/>
            </a:xfrm>
          </p:grpSpPr>
          <p:sp>
            <p:nvSpPr>
              <p:cNvPr id="296" name="Google Shape;296;p26"/>
              <p:cNvSpPr txBox="1"/>
              <p:nvPr/>
            </p:nvSpPr>
            <p:spPr>
              <a:xfrm>
                <a:off x="3810000" y="1714500"/>
                <a:ext cx="7143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F8FAFC"/>
                    </a:solidFill>
                    <a:latin typeface="Inter"/>
                    <a:ea typeface="Inter"/>
                    <a:cs typeface="Inter"/>
                    <a:sym typeface="Inter"/>
                  </a:rPr>
                  <a:t>Exception Architecture</a:t>
                </a:r>
                <a:endParaRPr b="1" sz="2800">
                  <a:solidFill>
                    <a:srgbClr val="F8FAFC"/>
                  </a:solidFill>
                  <a:latin typeface="Inter"/>
                  <a:ea typeface="Inter"/>
                  <a:cs typeface="Inter"/>
                  <a:sym typeface="Inter"/>
                </a:endParaRPr>
              </a:p>
            </p:txBody>
          </p:sp>
          <p:sp>
            <p:nvSpPr>
              <p:cNvPr id="297" name="Google Shape;297;p26"/>
              <p:cNvSpPr txBox="1"/>
              <p:nvPr/>
            </p:nvSpPr>
            <p:spPr>
              <a:xfrm>
                <a:off x="3810000" y="2476500"/>
                <a:ext cx="71439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94A3B8"/>
                    </a:solidFill>
                    <a:latin typeface="Inter"/>
                    <a:ea typeface="Inter"/>
                    <a:cs typeface="Inter"/>
                    <a:sym typeface="Inter"/>
                  </a:rPr>
                  <a:t>Hệ thống sử dụng cơ chế </a:t>
                </a:r>
                <a:r>
                  <a:rPr b="0" lang="en-US" sz="1800">
                    <a:solidFill>
                      <a:srgbClr val="38BDF8"/>
                    </a:solidFill>
                    <a:latin typeface="Inter SemiBold"/>
                    <a:ea typeface="Inter SemiBold"/>
                    <a:cs typeface="Inter SemiBold"/>
                    <a:sym typeface="Inter SemiBold"/>
                  </a:rPr>
                  <a:t>ném ngoại lệ (Exception Throwing)</a:t>
                </a:r>
                <a:r>
                  <a:rPr b="0" lang="en-US" sz="1800">
                    <a:solidFill>
                      <a:srgbClr val="94A3B8"/>
                    </a:solidFill>
                    <a:latin typeface="Inter"/>
                    <a:ea typeface="Inter"/>
                    <a:cs typeface="Inter"/>
                    <a:sym typeface="Inter"/>
                  </a:rPr>
                  <a:t> từ tầng Service lên View.</a:t>
                </a:r>
                <a:endParaRPr b="0" sz="1800">
                  <a:solidFill>
                    <a:srgbClr val="94A3B8"/>
                  </a:solidFill>
                  <a:latin typeface="Inter"/>
                  <a:ea typeface="Inter"/>
                  <a:cs typeface="Inter"/>
                  <a:sym typeface="Inter"/>
                </a:endParaRPr>
              </a:p>
              <a:p>
                <a:pPr indent="0" lvl="0" marL="0" rtl="0" algn="l">
                  <a:spcBef>
                    <a:spcPts val="1500"/>
                  </a:spcBef>
                  <a:spcAft>
                    <a:spcPts val="0"/>
                  </a:spcAft>
                  <a:buNone/>
                </a:pPr>
                <a:r>
                  <a:rPr b="0" lang="en-US" sz="1800">
                    <a:solidFill>
                      <a:srgbClr val="94A3B8"/>
                    </a:solidFill>
                    <a:latin typeface="Inter"/>
                    <a:ea typeface="Inter"/>
                    <a:cs typeface="Inter"/>
                    <a:sym typeface="Inter"/>
                  </a:rPr>
                  <a:t>Thay vì dùng System.out.println ở tầng logic, chúng ta ném </a:t>
                </a:r>
                <a:r>
                  <a:rPr b="0" lang="en-US" sz="1800">
                    <a:solidFill>
                      <a:srgbClr val="F8FAFC"/>
                    </a:solidFill>
                    <a:latin typeface="Inter SemiBold"/>
                    <a:ea typeface="Inter SemiBold"/>
                    <a:cs typeface="Inter SemiBold"/>
                    <a:sym typeface="Inter SemiBold"/>
                  </a:rPr>
                  <a:t>NotFoundException</a:t>
                </a:r>
                <a:r>
                  <a:rPr b="0" lang="en-US" sz="1800">
                    <a:solidFill>
                      <a:srgbClr val="94A3B8"/>
                    </a:solidFill>
                    <a:latin typeface="Inter"/>
                    <a:ea typeface="Inter"/>
                    <a:cs typeface="Inter"/>
                    <a:sym typeface="Inter"/>
                  </a:rPr>
                  <a:t> để View xử lý cách hiển thị cho người dùng.</a:t>
                </a:r>
                <a:endParaRPr b="0" sz="1800">
                  <a:solidFill>
                    <a:srgbClr val="94A3B8"/>
                  </a:solidFill>
                  <a:latin typeface="Inter"/>
                  <a:ea typeface="Inter"/>
                  <a:cs typeface="Inter"/>
                  <a:sym typeface="Inter"/>
                </a:endParaRPr>
              </a:p>
              <a:p>
                <a:pPr indent="0" lvl="0" marL="0" rtl="0" algn="l">
                  <a:spcBef>
                    <a:spcPts val="1500"/>
                  </a:spcBef>
                  <a:spcAft>
                    <a:spcPts val="0"/>
                  </a:spcAft>
                  <a:buNone/>
                </a:pPr>
                <a:r>
                  <a:rPr b="0" lang="en-US" sz="1800">
                    <a:solidFill>
                      <a:srgbClr val="94A3B8"/>
                    </a:solidFill>
                    <a:latin typeface="Inter"/>
                    <a:ea typeface="Inter"/>
                    <a:cs typeface="Inter"/>
                    <a:sym typeface="Inter"/>
                  </a:rPr>
                  <a:t>Điều này giúp cho logic </a:t>
                </a:r>
                <a:r>
                  <a:rPr b="0" lang="en-US" sz="1800">
                    <a:solidFill>
                      <a:srgbClr val="22C55E"/>
                    </a:solidFill>
                    <a:latin typeface="Inter SemiBold"/>
                    <a:ea typeface="Inter SemiBold"/>
                    <a:cs typeface="Inter SemiBold"/>
                    <a:sym typeface="Inter SemiBold"/>
                  </a:rPr>
                  <a:t>sạch sẽ và chuyên nghiệp</a:t>
                </a:r>
                <a:r>
                  <a:rPr b="0" lang="en-US" sz="1800">
                    <a:solidFill>
                      <a:srgbClr val="94A3B8"/>
                    </a:solidFill>
                    <a:latin typeface="Inter"/>
                    <a:ea typeface="Inter"/>
                    <a:cs typeface="Inter"/>
                    <a:sym typeface="Inter"/>
                  </a:rPr>
                  <a:t>.</a:t>
                </a:r>
                <a:endParaRPr b="0" sz="1800">
                  <a:solidFill>
                    <a:srgbClr val="94A3B8"/>
                  </a:solidFill>
                  <a:latin typeface="Inter"/>
                  <a:ea typeface="Inter"/>
                  <a:cs typeface="Inter"/>
                  <a:sym typeface="Inter"/>
                </a:endParaRPr>
              </a:p>
            </p:txBody>
          </p:sp>
        </p:grpSp>
        <p:cxnSp>
          <p:nvCxnSpPr>
            <p:cNvPr id="298" name="Google Shape;298;p26"/>
            <p:cNvCxnSpPr/>
            <p:nvPr/>
          </p:nvCxnSpPr>
          <p:spPr>
            <a:xfrm>
              <a:off x="3619500" y="1714500"/>
              <a:ext cx="0" cy="3238500"/>
            </a:xfrm>
            <a:prstGeom prst="straightConnector1">
              <a:avLst/>
            </a:prstGeom>
            <a:solidFill>
              <a:srgbClr val="FFFFFF"/>
            </a:solidFill>
            <a:ln cap="flat" cmpd="sng" w="19050">
              <a:solidFill>
                <a:srgbClr val="334155"/>
              </a:solidFill>
              <a:prstDash val="solid"/>
              <a:round/>
              <a:headEnd len="sm" w="sm" type="none"/>
              <a:tailEnd len="sm" w="sm" type="none"/>
            </a:ln>
          </p:spPr>
        </p:cxn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02" name="Shape 302"/>
        <p:cNvGrpSpPr/>
        <p:nvPr/>
      </p:nvGrpSpPr>
      <p:grpSpPr>
        <a:xfrm>
          <a:off x="0" y="0"/>
          <a:ext cx="0" cy="0"/>
          <a:chOff x="0" y="0"/>
          <a:chExt cx="0" cy="0"/>
        </a:xfrm>
      </p:grpSpPr>
      <p:pic>
        <p:nvPicPr>
          <p:cNvPr descr="image.png" id="303" name="Google Shape;303;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4" name="Google Shape;304;p27"/>
          <p:cNvSpPr txBox="1"/>
          <p:nvPr/>
        </p:nvSpPr>
        <p:spPr>
          <a:xfrm>
            <a:off x="771525" y="581025"/>
            <a:ext cx="80964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150">
                <a:solidFill>
                  <a:srgbClr val="38BDF8"/>
                </a:solidFill>
                <a:latin typeface="Inter"/>
                <a:ea typeface="Inter"/>
                <a:cs typeface="Inter"/>
                <a:sym typeface="Inter"/>
              </a:rPr>
              <a:t>CHỨC NĂNG NỔI BẬT CỦA HỆ THỐNG</a:t>
            </a:r>
            <a:endParaRPr b="1" sz="3150">
              <a:solidFill>
                <a:srgbClr val="38BDF8"/>
              </a:solidFill>
              <a:latin typeface="Inter"/>
              <a:ea typeface="Inter"/>
              <a:cs typeface="Inter"/>
              <a:sym typeface="Inter"/>
            </a:endParaRPr>
          </a:p>
        </p:txBody>
      </p:sp>
      <p:sp>
        <p:nvSpPr>
          <p:cNvPr id="305" name="Google Shape;305;p27"/>
          <p:cNvSpPr/>
          <p:nvPr/>
        </p:nvSpPr>
        <p:spPr>
          <a:xfrm>
            <a:off x="581025" y="581025"/>
            <a:ext cx="47700" cy="4857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06" name="Google Shape;306;p27"/>
          <p:cNvGrpSpPr/>
          <p:nvPr/>
        </p:nvGrpSpPr>
        <p:grpSpPr>
          <a:xfrm>
            <a:off x="581025" y="1714500"/>
            <a:ext cx="11029875" cy="3619500"/>
            <a:chOff x="581025" y="1714500"/>
            <a:chExt cx="11029875" cy="3619500"/>
          </a:xfrm>
        </p:grpSpPr>
        <p:sp>
          <p:nvSpPr>
            <p:cNvPr id="307" name="Google Shape;307;p27"/>
            <p:cNvSpPr/>
            <p:nvPr/>
          </p:nvSpPr>
          <p:spPr>
            <a:xfrm>
              <a:off x="581025" y="1714500"/>
              <a:ext cx="5324400" cy="3619500"/>
            </a:xfrm>
            <a:prstGeom prst="roundRect">
              <a:avLst>
                <a:gd fmla="val 4210"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27"/>
            <p:cNvSpPr txBox="1"/>
            <p:nvPr/>
          </p:nvSpPr>
          <p:spPr>
            <a:xfrm>
              <a:off x="866775" y="2052828"/>
              <a:ext cx="476400" cy="47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060">
                  <a:solidFill>
                    <a:srgbClr val="38BDF8"/>
                  </a:solidFill>
                  <a:latin typeface="Material Icons"/>
                  <a:ea typeface="Material Icons"/>
                  <a:cs typeface="Material Icons"/>
                  <a:sym typeface="Material Icons"/>
                </a:rPr>
                <a:t>file_upload</a:t>
              </a:r>
              <a:endParaRPr sz="3060">
                <a:solidFill>
                  <a:srgbClr val="38BDF8"/>
                </a:solidFill>
                <a:latin typeface="Material Icons"/>
                <a:ea typeface="Material Icons"/>
                <a:cs typeface="Material Icons"/>
                <a:sym typeface="Material Icons"/>
              </a:endParaRPr>
            </a:p>
          </p:txBody>
        </p:sp>
        <p:sp>
          <p:nvSpPr>
            <p:cNvPr id="309" name="Google Shape;309;p27"/>
            <p:cNvSpPr txBox="1"/>
            <p:nvPr/>
          </p:nvSpPr>
          <p:spPr>
            <a:xfrm>
              <a:off x="866775" y="2667000"/>
              <a:ext cx="4752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F8FAFC"/>
                  </a:solidFill>
                  <a:latin typeface="Inter"/>
                  <a:ea typeface="Inter"/>
                  <a:cs typeface="Inter"/>
                  <a:sym typeface="Inter"/>
                </a:rPr>
                <a:t>Import Bảng Điểm Trực Tiếp</a:t>
              </a:r>
              <a:endParaRPr b="1" sz="2200">
                <a:solidFill>
                  <a:srgbClr val="F8FAFC"/>
                </a:solidFill>
                <a:latin typeface="Inter"/>
                <a:ea typeface="Inter"/>
                <a:cs typeface="Inter"/>
                <a:sym typeface="Inter"/>
              </a:endParaRPr>
            </a:p>
          </p:txBody>
        </p:sp>
        <p:sp>
          <p:nvSpPr>
            <p:cNvPr id="310" name="Google Shape;310;p27"/>
            <p:cNvSpPr txBox="1"/>
            <p:nvPr/>
          </p:nvSpPr>
          <p:spPr>
            <a:xfrm>
              <a:off x="866775" y="3143250"/>
              <a:ext cx="47529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94A3B8"/>
                  </a:solidFill>
                  <a:latin typeface="Inter"/>
                  <a:ea typeface="Inter"/>
                  <a:cs typeface="Inter"/>
                  <a:sym typeface="Inter"/>
                </a:rPr>
                <a:t>Hệ thống cho phép nhập dữ liệu điểm số từ các nguồn bên ngoài một cách nhanh chóng.</a:t>
              </a:r>
              <a:endParaRPr b="0" sz="1400">
                <a:solidFill>
                  <a:srgbClr val="94A3B8"/>
                </a:solidFill>
                <a:latin typeface="Inter"/>
                <a:ea typeface="Inter"/>
                <a:cs typeface="Inter"/>
                <a:sym typeface="Inter"/>
              </a:endParaRPr>
            </a:p>
            <a:p>
              <a:pPr indent="-317500" lvl="0" marL="457200" rtl="0" algn="l">
                <a:spcBef>
                  <a:spcPts val="1200"/>
                </a:spcBef>
                <a:spcAft>
                  <a:spcPts val="0"/>
                </a:spcAft>
                <a:buClr>
                  <a:srgbClr val="94A3B8"/>
                </a:buClr>
                <a:buSzPts val="1400"/>
                <a:buFont typeface="Inter"/>
                <a:buChar char="●"/>
              </a:pPr>
              <a:r>
                <a:rPr b="0" lang="en-US" sz="1400">
                  <a:solidFill>
                    <a:srgbClr val="94A3B8"/>
                  </a:solidFill>
                  <a:latin typeface="Inter"/>
                  <a:ea typeface="Inter"/>
                  <a:cs typeface="Inter"/>
                  <a:sym typeface="Inter"/>
                </a:rPr>
                <a:t>Tự động phân tích cấu trúc tệp tin.</a:t>
              </a:r>
              <a:endParaRPr b="0" sz="1400">
                <a:solidFill>
                  <a:srgbClr val="94A3B8"/>
                </a:solidFill>
                <a:latin typeface="Inter"/>
                <a:ea typeface="Inter"/>
                <a:cs typeface="Inter"/>
                <a:sym typeface="Inter"/>
              </a:endParaRPr>
            </a:p>
            <a:p>
              <a:pPr indent="-317500" lvl="0" marL="457200" rtl="0" algn="l">
                <a:spcBef>
                  <a:spcPts val="800"/>
                </a:spcBef>
                <a:spcAft>
                  <a:spcPts val="0"/>
                </a:spcAft>
                <a:buClr>
                  <a:srgbClr val="94A3B8"/>
                </a:buClr>
                <a:buSzPts val="1400"/>
                <a:buFont typeface="Inter"/>
                <a:buChar char="●"/>
              </a:pPr>
              <a:r>
                <a:rPr b="0" lang="en-US" sz="1400">
                  <a:solidFill>
                    <a:srgbClr val="94A3B8"/>
                  </a:solidFill>
                  <a:latin typeface="Inter"/>
                  <a:ea typeface="Inter"/>
                  <a:cs typeface="Inter"/>
                  <a:sym typeface="Inter"/>
                </a:rPr>
                <a:t>Ánh xạ dữ liệu vào </a:t>
              </a:r>
              <a:r>
                <a:rPr lang="en-US">
                  <a:solidFill>
                    <a:srgbClr val="94A3B8"/>
                  </a:solidFill>
                  <a:latin typeface="Inter"/>
                  <a:ea typeface="Inter"/>
                  <a:cs typeface="Inter"/>
                  <a:sym typeface="Inter"/>
                </a:rPr>
                <a:t>Score</a:t>
              </a:r>
              <a:r>
                <a:rPr b="0" lang="en-US" sz="1400">
                  <a:solidFill>
                    <a:srgbClr val="94A3B8"/>
                  </a:solidFill>
                  <a:latin typeface="Inter"/>
                  <a:ea typeface="Inter"/>
                  <a:cs typeface="Inter"/>
                  <a:sym typeface="Inter"/>
                </a:rPr>
                <a:t> chính xác.</a:t>
              </a:r>
              <a:endParaRPr b="0" sz="1400">
                <a:solidFill>
                  <a:srgbClr val="94A3B8"/>
                </a:solidFill>
                <a:latin typeface="Inter"/>
                <a:ea typeface="Inter"/>
                <a:cs typeface="Inter"/>
                <a:sym typeface="Inter"/>
              </a:endParaRPr>
            </a:p>
            <a:p>
              <a:pPr indent="-317500" lvl="0" marL="457200" rtl="0" algn="l">
                <a:spcBef>
                  <a:spcPts val="800"/>
                </a:spcBef>
                <a:spcAft>
                  <a:spcPts val="0"/>
                </a:spcAft>
                <a:buClr>
                  <a:srgbClr val="94A3B8"/>
                </a:buClr>
                <a:buSzPts val="1400"/>
                <a:buFont typeface="Inter"/>
                <a:buChar char="●"/>
              </a:pPr>
              <a:r>
                <a:rPr b="0" lang="en-US" sz="1400">
                  <a:solidFill>
                    <a:srgbClr val="94A3B8"/>
                  </a:solidFill>
                  <a:latin typeface="Inter"/>
                  <a:ea typeface="Inter"/>
                  <a:cs typeface="Inter"/>
                  <a:sym typeface="Inter"/>
                </a:rPr>
                <a:t>Giảm thiểu sai sót so với nhập liệu thủ công.</a:t>
              </a:r>
              <a:endParaRPr b="0" sz="1400">
                <a:solidFill>
                  <a:srgbClr val="94A3B8"/>
                </a:solidFill>
                <a:latin typeface="Inter"/>
                <a:ea typeface="Inter"/>
                <a:cs typeface="Inter"/>
                <a:sym typeface="Inter"/>
              </a:endParaRPr>
            </a:p>
          </p:txBody>
        </p:sp>
        <p:sp>
          <p:nvSpPr>
            <p:cNvPr id="311" name="Google Shape;311;p27"/>
            <p:cNvSpPr/>
            <p:nvPr/>
          </p:nvSpPr>
          <p:spPr>
            <a:xfrm>
              <a:off x="6286500" y="1714500"/>
              <a:ext cx="5324400" cy="3619500"/>
            </a:xfrm>
            <a:prstGeom prst="roundRect">
              <a:avLst>
                <a:gd fmla="val 4210"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7"/>
            <p:cNvSpPr txBox="1"/>
            <p:nvPr/>
          </p:nvSpPr>
          <p:spPr>
            <a:xfrm>
              <a:off x="6572250" y="2052828"/>
              <a:ext cx="476400" cy="47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060">
                  <a:solidFill>
                    <a:srgbClr val="38BDF8"/>
                  </a:solidFill>
                  <a:latin typeface="Material Icons"/>
                  <a:ea typeface="Material Icons"/>
                  <a:cs typeface="Material Icons"/>
                  <a:sym typeface="Material Icons"/>
                </a:rPr>
                <a:t>sync</a:t>
              </a:r>
              <a:endParaRPr sz="3060">
                <a:solidFill>
                  <a:srgbClr val="38BDF8"/>
                </a:solidFill>
                <a:latin typeface="Material Icons"/>
                <a:ea typeface="Material Icons"/>
                <a:cs typeface="Material Icons"/>
                <a:sym typeface="Material Icons"/>
              </a:endParaRPr>
            </a:p>
          </p:txBody>
        </p:sp>
        <p:sp>
          <p:nvSpPr>
            <p:cNvPr id="313" name="Google Shape;313;p27"/>
            <p:cNvSpPr txBox="1"/>
            <p:nvPr/>
          </p:nvSpPr>
          <p:spPr>
            <a:xfrm>
              <a:off x="6572250" y="2667000"/>
              <a:ext cx="4752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F8FAFC"/>
                  </a:solidFill>
                  <a:latin typeface="Inter"/>
                  <a:ea typeface="Inter"/>
                  <a:cs typeface="Inter"/>
                  <a:sym typeface="Inter"/>
                </a:rPr>
                <a:t>Đồng Bộ Dữ Liệu Toàn Diện</a:t>
              </a:r>
              <a:endParaRPr b="1" sz="2200">
                <a:solidFill>
                  <a:srgbClr val="F8FAFC"/>
                </a:solidFill>
                <a:latin typeface="Inter"/>
                <a:ea typeface="Inter"/>
                <a:cs typeface="Inter"/>
                <a:sym typeface="Inter"/>
              </a:endParaRPr>
            </a:p>
          </p:txBody>
        </p:sp>
        <p:sp>
          <p:nvSpPr>
            <p:cNvPr id="314" name="Google Shape;314;p27"/>
            <p:cNvSpPr txBox="1"/>
            <p:nvPr/>
          </p:nvSpPr>
          <p:spPr>
            <a:xfrm>
              <a:off x="6572250" y="3143250"/>
              <a:ext cx="47529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94A3B8"/>
                  </a:solidFill>
                  <a:latin typeface="Inter"/>
                  <a:ea typeface="Inter"/>
                  <a:cs typeface="Inter"/>
                  <a:sym typeface="Inter"/>
                </a:rPr>
                <a:t>Đảm bảo tính nhất quán của thông tin trên toàn bộ các mô đun trong hệ thống.</a:t>
              </a:r>
              <a:endParaRPr b="0" sz="1400">
                <a:solidFill>
                  <a:srgbClr val="94A3B8"/>
                </a:solidFill>
                <a:latin typeface="Inter"/>
                <a:ea typeface="Inter"/>
                <a:cs typeface="Inter"/>
                <a:sym typeface="Inter"/>
              </a:endParaRPr>
            </a:p>
            <a:p>
              <a:pPr indent="-317500" lvl="0" marL="457200" rtl="0" algn="l">
                <a:spcBef>
                  <a:spcPts val="1200"/>
                </a:spcBef>
                <a:spcAft>
                  <a:spcPts val="0"/>
                </a:spcAft>
                <a:buClr>
                  <a:srgbClr val="94A3B8"/>
                </a:buClr>
                <a:buSzPts val="1400"/>
                <a:buFont typeface="Inter"/>
                <a:buChar char="●"/>
              </a:pPr>
              <a:r>
                <a:rPr b="0" lang="en-US" sz="1400">
                  <a:solidFill>
                    <a:srgbClr val="94A3B8"/>
                  </a:solidFill>
                  <a:latin typeface="Inter"/>
                  <a:ea typeface="Inter"/>
                  <a:cs typeface="Inter"/>
                  <a:sym typeface="Inter"/>
                </a:rPr>
                <a:t>Luồng xử lý từ View -&gt; Controller -&gt; Service -&gt; Repository đồng bộ.</a:t>
              </a:r>
              <a:endParaRPr b="0" sz="1400">
                <a:solidFill>
                  <a:srgbClr val="94A3B8"/>
                </a:solidFill>
                <a:latin typeface="Inter"/>
                <a:ea typeface="Inter"/>
                <a:cs typeface="Inter"/>
                <a:sym typeface="Inter"/>
              </a:endParaRPr>
            </a:p>
            <a:p>
              <a:pPr indent="-317500" lvl="0" marL="457200" rtl="0" algn="l">
                <a:spcBef>
                  <a:spcPts val="800"/>
                </a:spcBef>
                <a:spcAft>
                  <a:spcPts val="0"/>
                </a:spcAft>
                <a:buClr>
                  <a:srgbClr val="94A3B8"/>
                </a:buClr>
                <a:buSzPts val="1400"/>
                <a:buFont typeface="Inter"/>
                <a:buChar char="●"/>
              </a:pPr>
              <a:r>
                <a:rPr b="0" lang="en-US" sz="1400">
                  <a:solidFill>
                    <a:srgbClr val="94A3B8"/>
                  </a:solidFill>
                  <a:latin typeface="Inter"/>
                  <a:ea typeface="Inter"/>
                  <a:cs typeface="Inter"/>
                  <a:sym typeface="Inter"/>
                </a:rPr>
                <a:t>Tự động cập nhật file thông qua FileHelper.</a:t>
              </a:r>
              <a:endParaRPr b="0" sz="1400">
                <a:solidFill>
                  <a:srgbClr val="94A3B8"/>
                </a:solidFill>
                <a:latin typeface="Inter"/>
                <a:ea typeface="Inter"/>
                <a:cs typeface="Inter"/>
                <a:sym typeface="Inter"/>
              </a:endParaRPr>
            </a:p>
            <a:p>
              <a:pPr indent="-317500" lvl="0" marL="457200" rtl="0" algn="l">
                <a:spcBef>
                  <a:spcPts val="800"/>
                </a:spcBef>
                <a:spcAft>
                  <a:spcPts val="0"/>
                </a:spcAft>
                <a:buClr>
                  <a:srgbClr val="94A3B8"/>
                </a:buClr>
                <a:buSzPts val="1400"/>
                <a:buFont typeface="Inter"/>
                <a:buChar char="●"/>
              </a:pPr>
              <a:r>
                <a:rPr b="0" lang="en-US" sz="1400">
                  <a:solidFill>
                    <a:srgbClr val="94A3B8"/>
                  </a:solidFill>
                  <a:latin typeface="Inter"/>
                  <a:ea typeface="Inter"/>
                  <a:cs typeface="Inter"/>
                  <a:sym typeface="Inter"/>
                </a:rPr>
                <a:t>Dữ liệu luôn sẵn sàng ở mọi tầng kiến trúc.</a:t>
              </a:r>
              <a:endParaRPr b="0" sz="1400">
                <a:solidFill>
                  <a:srgbClr val="94A3B8"/>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